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7" autoAdjust="0"/>
    <p:restoredTop sz="94667" autoAdjust="0"/>
  </p:normalViewPr>
  <p:slideViewPr>
    <p:cSldViewPr snapToGrid="0">
      <p:cViewPr varScale="1">
        <p:scale>
          <a:sx n="115" d="100"/>
          <a:sy n="115" d="100"/>
        </p:scale>
        <p:origin x="2568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AC3AE-F6EE-4DB1-BD85-F20D6F55F89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9FE2C9-FC48-4895-97E4-A2C92A8C3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53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2625E-D655-BB3A-850C-66C46CAA9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410E0B-F80C-EE31-8C59-099D0B02B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94264C-10AE-83C0-7E12-865EEF28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AABB-36AD-4C32-A4B7-245AD79E333B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FC5831-4E8F-03E3-9155-F4EDFDA4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A8F231-7F71-9F60-C995-B8D19626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3896" y="155966"/>
            <a:ext cx="2964493" cy="407705"/>
          </a:xfrm>
        </p:spPr>
        <p:txBody>
          <a:bodyPr/>
          <a:lstStyle>
            <a:lvl1pPr>
              <a:defRPr sz="2400"/>
            </a:lvl1pPr>
          </a:lstStyle>
          <a:p>
            <a:fld id="{98BB8073-A5DC-4C6E-BBA3-3251C6D34E05}" type="slidenum">
              <a:rPr lang="ru-RU" smtClean="0"/>
              <a:pPr/>
              <a:t>‹#›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99440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495BC-3AC7-B0E5-1B36-0804DA31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20D694-7607-8376-F36E-FDD8876B6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744FD7-F872-936A-313F-458E364C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D2C96-5DEE-4C37-B316-F17F8823165E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556A2D-09ED-9A85-A24C-0BA50685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DB54A5-8601-9089-B41D-E9560EF9A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109" y="115094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98BB8073-A5DC-4C6E-BBA3-3251C6D34E05}" type="slidenum">
              <a:rPr lang="ru-RU" smtClean="0"/>
              <a:pPr/>
              <a:t>‹#›</a:t>
            </a:fld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7967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BDAC4-6967-5486-BE53-BF246E5E6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34F53-750F-B140-992F-E85FF228C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3F9D92-7D83-D4A8-03D7-49960D9AC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8D298-A356-44E5-A55E-93D50C6922D5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B33BD7-0EF8-8BBB-DC31-2DEC2301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FA61FA-8E51-865D-3E08-DE5AF9E0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99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C95F0-DBB7-666A-09A7-F9CEF770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8AEDD1-840C-7656-3870-C84858F619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78C41E-5E27-8954-0B4A-7E07410AD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02D29D-6AD7-F6AB-8C15-C3E1EA21A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408A-8523-4561-8A30-7207367488C8}" type="datetime1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AE8A7B-DE4C-E3F1-8A21-1650645E3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850E36-B499-DA33-20F3-80175CCD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08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66C4B-B665-7912-DF40-F35DF8F9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6A9AB7-B888-FA78-57F0-B3F295780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5C8ED0-EABE-F3F9-D1EA-F2A84EDB8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CBE194-AAEA-7DEB-A069-A342A3140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80FA9C0-35D3-242E-3652-FEDA8E5FD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0632DCB-C3AC-78A3-46D2-591E468D8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BF8C-03A8-4A4F-8458-1F86E8BCC079}" type="datetime1">
              <a:rPr lang="ru-RU" smtClean="0"/>
              <a:t>10.03.2026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85079CF-544C-9985-7CDD-47B0F2EE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4DC84E1-2901-B334-FC79-16D0A690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00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E229D-6FB6-BD47-9A38-224DBD02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DB5E3BD-5872-BCC6-0526-6641ED12F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092B-9108-4A32-9213-3BDF3BAA360E}" type="datetime1">
              <a:rPr lang="ru-RU" smtClean="0"/>
              <a:t>10.03.2026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C04792-900C-963B-7A76-2EE3780B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A53930-BCC8-8CEA-6867-44F2BDBA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339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B79C174-2500-CC69-A9D6-5F403B34D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E9A2-3B58-4B2B-9C58-B9927E5BA3A3}" type="datetime1">
              <a:rPr lang="ru-RU" smtClean="0"/>
              <a:t>10.03.2026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B727954-3F15-F700-747B-CED51E24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6342D1-5AF9-F4A9-5F63-6A74A17E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83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5DFE7-F8B2-DE14-C959-522AB6CBB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D9E4F7-93BD-2280-4D3D-09557FB8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B2AE42-2F9C-8FA6-57CA-0E287CC34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BFCB9A-7A65-EEA7-BA53-C1B4FEBF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8177-D74B-4453-9F2A-1B67B836A2E5}" type="datetime1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B8CAB2-8F28-FBF2-7463-E53F6ADA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0AD07E-DCF1-2AB0-0968-6EC65F74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38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53B58-07A4-D7EC-FBA9-1A0472A42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A730ABF-F4AA-DD5C-B946-28F0B3068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D44899-8EDB-D752-629C-3D399C102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298AE3-64F2-0BE7-4222-D4B4614D0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22247-F495-46E9-8BC2-B08020228BB9}" type="datetime1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DB5EA6-CB6B-1619-8CCF-DFF0EDD6C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728CD2-2361-AA1A-7581-6E2FC976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10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FE0A4-B4A3-A8A2-8987-42B10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D7756E-3FF2-A77F-0A52-CE1A0A47C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6A95EC-8C51-22E4-983F-4C8E0836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8B3F-B25C-4F5D-B562-78848C943F70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DB61C5-FE4A-132C-57D8-62264367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1B7524-C7FF-CC8C-E3D9-959CDACF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9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EB4F591-AC00-90D2-21F6-CB01BADEB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2AE8A6-D39C-91EF-61B7-2AF4346B1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2A4751-9C62-96A7-81BB-6328EB3B8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C26C-FA79-4F2A-8B6B-F97B7CCDAEF8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BE9881-5AAB-5792-BB60-6E6A353B4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ACC7DA-0936-69B4-E166-6BEF8FDE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9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EA69E-3DE6-0E7B-88D4-7754C39F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259821-CADB-89E0-5D95-BE467ADA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FAA162-3A70-0D25-2948-262EE9EDF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1A9B6-2338-4759-9D80-C4E7E7245478}" type="datetime1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78DBA0-CACB-5E19-D7C3-5916266E0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35FA1B-3A6C-CFEC-5B78-352D8F5ED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B8073-A5DC-4C6E-BBA3-3251C6D34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2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9">
            <a:extLst>
              <a:ext uri="{FF2B5EF4-FFF2-40B4-BE49-F238E27FC236}">
                <a16:creationId xmlns:a16="http://schemas.microsoft.com/office/drawing/2014/main" id="{97769189-78F1-3890-9778-7609831F62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847948" y="153056"/>
            <a:ext cx="784860" cy="8092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C97AFA-4D08-7DF4-5F8E-B9B8F709F953}"/>
              </a:ext>
            </a:extLst>
          </p:cNvPr>
          <p:cNvSpPr txBox="1"/>
          <p:nvPr/>
        </p:nvSpPr>
        <p:spPr bwMode="auto">
          <a:xfrm>
            <a:off x="2746839" y="3165274"/>
            <a:ext cx="69870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err="1"/>
              <a:t>Плагинная</a:t>
            </a:r>
            <a:r>
              <a:rPr lang="ru-RU" sz="2800" dirty="0"/>
              <a:t> архитектура для поддержки дополнительных языков программирования в образовательной платформе</a:t>
            </a:r>
            <a:endParaRPr lang="ru-KZ" sz="2400" dirty="0">
              <a:latin typeface="SB Sans Display Light"/>
              <a:cs typeface="Baloo 2" panose="03080502040302020200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202CD-0528-C565-DACB-DB52C1AD7FD5}"/>
              </a:ext>
            </a:extLst>
          </p:cNvPr>
          <p:cNvSpPr txBox="1"/>
          <p:nvPr/>
        </p:nvSpPr>
        <p:spPr bwMode="auto">
          <a:xfrm>
            <a:off x="292100" y="5249369"/>
            <a:ext cx="3683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SB Sans Display Light"/>
              </a:rPr>
              <a:t>П</a:t>
            </a:r>
            <a:r>
              <a:rPr lang="ru-RU" dirty="0" err="1">
                <a:latin typeface="SB Sans Display Light"/>
              </a:rPr>
              <a:t>одготовил</a:t>
            </a:r>
            <a:r>
              <a:rPr lang="ru-RU" dirty="0">
                <a:latin typeface="SB Sans Display Light"/>
              </a:rPr>
              <a:t>: студент группы МПР</a:t>
            </a:r>
            <a:r>
              <a:rPr lang="en-US" dirty="0">
                <a:latin typeface="SB Sans Display Light"/>
              </a:rPr>
              <a:t>2</a:t>
            </a:r>
            <a:r>
              <a:rPr lang="ru-RU" dirty="0">
                <a:latin typeface="SB Sans Display Light"/>
              </a:rPr>
              <a:t>1</a:t>
            </a:r>
          </a:p>
          <a:p>
            <a:r>
              <a:rPr lang="ru-RU" dirty="0" err="1">
                <a:latin typeface="SB Sans Display Light"/>
              </a:rPr>
              <a:t>Голосуев</a:t>
            </a:r>
            <a:r>
              <a:rPr lang="ru-RU" dirty="0">
                <a:latin typeface="SB Sans Display Light"/>
              </a:rPr>
              <a:t> Данил Витальевич</a:t>
            </a:r>
            <a:endParaRPr lang="ru-KZ" dirty="0">
              <a:latin typeface="SB Sans Display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86B432-B321-0AC5-CF4E-1FA806EF88D9}"/>
              </a:ext>
            </a:extLst>
          </p:cNvPr>
          <p:cNvSpPr txBox="1"/>
          <p:nvPr/>
        </p:nvSpPr>
        <p:spPr bwMode="auto">
          <a:xfrm>
            <a:off x="292100" y="5943734"/>
            <a:ext cx="2966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SB Sans Display Light"/>
              </a:rPr>
              <a:t>Научный р</a:t>
            </a:r>
            <a:r>
              <a:rPr lang="ru-KZ" dirty="0">
                <a:latin typeface="SB Sans Display Light"/>
              </a:rPr>
              <a:t>уководитель</a:t>
            </a:r>
            <a:r>
              <a:rPr lang="en-US" dirty="0">
                <a:latin typeface="SB Sans Display Light"/>
              </a:rPr>
              <a:t>:</a:t>
            </a:r>
          </a:p>
          <a:p>
            <a:r>
              <a:rPr lang="ru-RU" dirty="0">
                <a:latin typeface="SB Sans Display Light"/>
              </a:rPr>
              <a:t>Долгов Василий Валерьевич</a:t>
            </a:r>
            <a:endParaRPr lang="ru-KZ" dirty="0">
              <a:latin typeface="SB Sans Display Light"/>
            </a:endParaRPr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F7ADFC1C-B387-CF12-199B-DCF32DCD20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40"/>
          <a:stretch/>
        </p:blipFill>
        <p:spPr bwMode="auto">
          <a:xfrm>
            <a:off x="1650230" y="962300"/>
            <a:ext cx="9180298" cy="213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8FBB04E-7349-CD15-6EF7-E5C240701D59}"/>
              </a:ext>
            </a:extLst>
          </p:cNvPr>
          <p:cNvSpPr txBox="1"/>
          <p:nvPr/>
        </p:nvSpPr>
        <p:spPr bwMode="auto">
          <a:xfrm>
            <a:off x="9639902" y="6000310"/>
            <a:ext cx="23812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 err="1">
                <a:latin typeface="SB Sans Display Light"/>
              </a:rPr>
              <a:t>Ростов</a:t>
            </a:r>
            <a:r>
              <a:rPr lang="ru-RU" sz="2000" dirty="0">
                <a:latin typeface="SB Sans Display Light"/>
              </a:rPr>
              <a:t>-на-Дону</a:t>
            </a:r>
          </a:p>
          <a:p>
            <a:pPr algn="ctr"/>
            <a:r>
              <a:rPr lang="ru-RU" sz="2000" dirty="0">
                <a:latin typeface="SB Sans Display Light"/>
              </a:rPr>
              <a:t>202</a:t>
            </a:r>
            <a:r>
              <a:rPr lang="en-US" sz="2000" dirty="0">
                <a:latin typeface="SB Sans Display Light"/>
              </a:rPr>
              <a:t>6</a:t>
            </a:r>
            <a:endParaRPr lang="ru-KZ" sz="2000" dirty="0">
              <a:latin typeface="SB Sans Display Light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DF50C52-F080-2B42-7DED-CB28EDDE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266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95CB6F-AB65-F648-6500-24BADEEA5D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311433" y="21799"/>
            <a:ext cx="9569133" cy="6814401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C9D4984-CBE8-627A-E7E8-1AFB12DA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83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BBB61C-9804-E91A-20F8-6966BADC61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698372" y="207732"/>
            <a:ext cx="10795256" cy="644253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134A451-C645-963A-28B1-3479D966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498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6B841C-B599-4FFB-BB24-D5C88D3B0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8745" y="205876"/>
            <a:ext cx="11314509" cy="644624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6EC2D00-B733-4E18-1BD5-43E8A898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856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076B441-278F-65EE-AA1C-742C5E112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034" y="248617"/>
            <a:ext cx="10515600" cy="5562462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Цель:</a:t>
            </a:r>
            <a:br>
              <a:rPr lang="ru-RU" dirty="0"/>
            </a:br>
            <a:r>
              <a:rPr lang="ru-RU" dirty="0"/>
              <a:t>Обеспечить расширяемость платформы за счёт </a:t>
            </a:r>
            <a:r>
              <a:rPr lang="ru-RU" dirty="0" err="1"/>
              <a:t>плагинизации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Задачи:</a:t>
            </a:r>
            <a:endParaRPr lang="ru-RU" dirty="0"/>
          </a:p>
          <a:p>
            <a:r>
              <a:rPr lang="ru-RU" dirty="0"/>
              <a:t>Определить точки кастомизации</a:t>
            </a:r>
          </a:p>
          <a:p>
            <a:r>
              <a:rPr lang="ru-RU" dirty="0"/>
              <a:t>Спроектировать плагины для </a:t>
            </a:r>
            <a:r>
              <a:rPr lang="en-US" dirty="0"/>
              <a:t>Java </a:t>
            </a:r>
            <a:r>
              <a:rPr lang="ru-RU" dirty="0"/>
              <a:t>и </a:t>
            </a:r>
            <a:r>
              <a:rPr lang="en-US" dirty="0"/>
              <a:t>JS</a:t>
            </a:r>
            <a:endParaRPr lang="ru-RU" dirty="0"/>
          </a:p>
          <a:p>
            <a:r>
              <a:rPr lang="ru-RU" dirty="0"/>
              <a:t>Определить инструменты </a:t>
            </a:r>
            <a:r>
              <a:rPr lang="ru-RU" dirty="0" err="1"/>
              <a:t>плагинизации</a:t>
            </a:r>
            <a:r>
              <a:rPr lang="ru-RU" dirty="0"/>
              <a:t> для </a:t>
            </a:r>
            <a:r>
              <a:rPr lang="en-US" dirty="0"/>
              <a:t>Java </a:t>
            </a:r>
            <a:r>
              <a:rPr lang="ru-RU" dirty="0"/>
              <a:t>и </a:t>
            </a:r>
            <a:r>
              <a:rPr lang="en-US" dirty="0"/>
              <a:t>JS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Актуальность: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Расширяемость - вечная проблема платформ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B29A374-2DE5-7BA4-2BAA-AF82C455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74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0CE43-E175-0206-F245-B72077EA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-72887"/>
            <a:ext cx="10273748" cy="849175"/>
          </a:xfrm>
        </p:spPr>
        <p:txBody>
          <a:bodyPr/>
          <a:lstStyle/>
          <a:p>
            <a:r>
              <a:rPr lang="ru-RU" dirty="0"/>
              <a:t>Компоненты платформы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EA44697-CF3F-B953-1415-7EAFD3876A39}"/>
              </a:ext>
            </a:extLst>
          </p:cNvPr>
          <p:cNvGrpSpPr/>
          <p:nvPr/>
        </p:nvGrpSpPr>
        <p:grpSpPr>
          <a:xfrm>
            <a:off x="1653693" y="1536403"/>
            <a:ext cx="2314058" cy="864096"/>
            <a:chOff x="876403" y="2278198"/>
            <a:chExt cx="2314058" cy="864096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1CAE745-194C-101D-5C25-586892AB816E}"/>
                </a:ext>
              </a:extLst>
            </p:cNvPr>
            <p:cNvSpPr/>
            <p:nvPr/>
          </p:nvSpPr>
          <p:spPr bwMode="auto">
            <a:xfrm>
              <a:off x="876403" y="2278198"/>
              <a:ext cx="231405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 err="1">
                  <a:latin typeface="SB Sans Display Light"/>
                </a:rPr>
                <a:t>Фронтенд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4573057F-F988-7377-BB42-9ED6B2BA64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403" y="2435760"/>
              <a:ext cx="777073" cy="54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A3BBAC90-2C2B-4740-3779-D0CB2A18A64D}"/>
              </a:ext>
            </a:extLst>
          </p:cNvPr>
          <p:cNvGrpSpPr/>
          <p:nvPr/>
        </p:nvGrpSpPr>
        <p:grpSpPr>
          <a:xfrm>
            <a:off x="1624937" y="3038231"/>
            <a:ext cx="2371570" cy="864096"/>
            <a:chOff x="5705629" y="2854002"/>
            <a:chExt cx="2371570" cy="8640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55B6F4ED-E77F-9F0E-FE16-B43BA7E34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629" y="2854002"/>
              <a:ext cx="2371570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 err="1">
                  <a:latin typeface="SB Sans Display Light"/>
                </a:rPr>
                <a:t>Вебсервер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10" name="Picture 12">
              <a:extLst>
                <a:ext uri="{FF2B5EF4-FFF2-40B4-BE49-F238E27FC236}">
                  <a16:creationId xmlns:a16="http://schemas.microsoft.com/office/drawing/2014/main" id="{136B5DDD-40BC-7DB2-F14F-BE2DB3DD7C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1419" y="3091078"/>
              <a:ext cx="572219" cy="429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5A91E5F1-0CC3-E5EA-3550-6B7D85C07849}"/>
              </a:ext>
            </a:extLst>
          </p:cNvPr>
          <p:cNvGrpSpPr/>
          <p:nvPr/>
        </p:nvGrpSpPr>
        <p:grpSpPr>
          <a:xfrm>
            <a:off x="1958732" y="4546085"/>
            <a:ext cx="1703979" cy="864096"/>
            <a:chOff x="6050544" y="5452401"/>
            <a:chExt cx="1703979" cy="864096"/>
          </a:xfrm>
        </p:grpSpPr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BC56B66E-5CEB-9FEF-CB15-73E577414186}"/>
                </a:ext>
              </a:extLst>
            </p:cNvPr>
            <p:cNvSpPr/>
            <p:nvPr/>
          </p:nvSpPr>
          <p:spPr bwMode="auto">
            <a:xfrm>
              <a:off x="6050544" y="5452401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>
                  <a:latin typeface="SB Sans Display Light"/>
                </a:rPr>
                <a:t>СУБД</a:t>
              </a:r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0064E19A-12EF-81DA-27BC-762D3AB3B9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4390" y="5553039"/>
              <a:ext cx="715659" cy="715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FE3F090-8709-493E-3D79-288F14774551}"/>
              </a:ext>
            </a:extLst>
          </p:cNvPr>
          <p:cNvGrpSpPr/>
          <p:nvPr/>
        </p:nvGrpSpPr>
        <p:grpSpPr>
          <a:xfrm>
            <a:off x="5100265" y="3038231"/>
            <a:ext cx="1819836" cy="864096"/>
            <a:chOff x="4928918" y="2270225"/>
            <a:chExt cx="1819836" cy="864096"/>
          </a:xfrm>
        </p:grpSpPr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93A08BD7-FAF4-D53E-58DC-345D4B96E835}"/>
                </a:ext>
              </a:extLst>
            </p:cNvPr>
            <p:cNvSpPr/>
            <p:nvPr/>
          </p:nvSpPr>
          <p:spPr>
            <a:xfrm>
              <a:off x="4928918" y="2270225"/>
              <a:ext cx="1819836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SB Sans Display Light"/>
                </a:rPr>
                <a:t>Kafka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20" name="Picture 6">
              <a:extLst>
                <a:ext uri="{FF2B5EF4-FFF2-40B4-BE49-F238E27FC236}">
                  <a16:creationId xmlns:a16="http://schemas.microsoft.com/office/drawing/2014/main" id="{960A44CA-6E27-84F1-05E8-42A0157D8C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3147" y="2417274"/>
              <a:ext cx="812706" cy="606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4BE7A336-3199-148F-A8D1-E0904B972F09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2810722" y="2400499"/>
            <a:ext cx="0" cy="63773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DECA1ABC-259B-B047-60F4-5789DEB7A0D2}"/>
              </a:ext>
            </a:extLst>
          </p:cNvPr>
          <p:cNvGrpSpPr/>
          <p:nvPr/>
        </p:nvGrpSpPr>
        <p:grpSpPr>
          <a:xfrm>
            <a:off x="5158193" y="4516335"/>
            <a:ext cx="1703979" cy="893846"/>
            <a:chOff x="5498577" y="4740164"/>
            <a:chExt cx="1703979" cy="893846"/>
          </a:xfrm>
        </p:grpSpPr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5D2C9D41-B9C9-0FCF-E153-ADED5F7D58ED}"/>
                </a:ext>
              </a:extLst>
            </p:cNvPr>
            <p:cNvSpPr/>
            <p:nvPr/>
          </p:nvSpPr>
          <p:spPr bwMode="auto">
            <a:xfrm>
              <a:off x="5498577" y="4769914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 err="1">
                  <a:latin typeface="SB Sans Display Light"/>
                </a:rPr>
                <a:t>MinIO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1026" name="Picture 2" descr="Picture background">
              <a:extLst>
                <a:ext uri="{FF2B5EF4-FFF2-40B4-BE49-F238E27FC236}">
                  <a16:creationId xmlns:a16="http://schemas.microsoft.com/office/drawing/2014/main" id="{C246E16B-4164-799C-94B1-43115B3CDC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4997" y="4740164"/>
              <a:ext cx="598380" cy="893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B5EED2D-14D6-7866-B442-682626CAAFD8}"/>
              </a:ext>
            </a:extLst>
          </p:cNvPr>
          <p:cNvGrpSpPr/>
          <p:nvPr/>
        </p:nvGrpSpPr>
        <p:grpSpPr>
          <a:xfrm>
            <a:off x="7964277" y="3038231"/>
            <a:ext cx="2624847" cy="864096"/>
            <a:chOff x="5062312" y="2308196"/>
            <a:chExt cx="2624847" cy="864096"/>
          </a:xfrm>
        </p:grpSpPr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34C5A239-1779-0CD9-1C69-1168DB066D83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SB Sans Display Light"/>
                </a:rPr>
                <a:t>Test-Runner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34" name="Picture 10">
              <a:extLst>
                <a:ext uri="{FF2B5EF4-FFF2-40B4-BE49-F238E27FC236}">
                  <a16:creationId xmlns:a16="http://schemas.microsoft.com/office/drawing/2014/main" id="{50CED310-E2C9-7C64-6A5F-7EE9ED898E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64AB2024-AE0D-5F7B-63ED-758F0FCA842A}"/>
              </a:ext>
            </a:extLst>
          </p:cNvPr>
          <p:cNvGrpSpPr/>
          <p:nvPr/>
        </p:nvGrpSpPr>
        <p:grpSpPr>
          <a:xfrm>
            <a:off x="7940508" y="4509619"/>
            <a:ext cx="2692282" cy="864096"/>
            <a:chOff x="8338910" y="1543878"/>
            <a:chExt cx="2692282" cy="864096"/>
          </a:xfrm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BA1E37CB-0247-A62F-12E3-BE4487C505C6}"/>
                </a:ext>
              </a:extLst>
            </p:cNvPr>
            <p:cNvSpPr/>
            <p:nvPr/>
          </p:nvSpPr>
          <p:spPr bwMode="auto">
            <a:xfrm>
              <a:off x="8338910" y="1543878"/>
              <a:ext cx="269228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SB Sans Display Light"/>
                </a:rPr>
                <a:t>Docker Engine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37" name="Picture 8">
              <a:extLst>
                <a:ext uri="{FF2B5EF4-FFF2-40B4-BE49-F238E27FC236}">
                  <a16:creationId xmlns:a16="http://schemas.microsoft.com/office/drawing/2014/main" id="{BA459109-F147-ACD7-8776-47D5A8BC15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5370" y="1739027"/>
              <a:ext cx="472419" cy="47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25438680-BF6D-B4D4-139E-E28E9049A86F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V="1">
            <a:off x="2810722" y="3902327"/>
            <a:ext cx="0" cy="64375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09493665-FA70-23B7-181B-4EBC9A09C9E6}"/>
              </a:ext>
            </a:extLst>
          </p:cNvPr>
          <p:cNvCxnSpPr>
            <a:cxnSpLocks/>
          </p:cNvCxnSpPr>
          <p:nvPr/>
        </p:nvCxnSpPr>
        <p:spPr>
          <a:xfrm flipH="1" flipV="1">
            <a:off x="3996507" y="3821879"/>
            <a:ext cx="1185785" cy="77795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D217A9C7-B54F-47D2-B993-EBB4781A6642}"/>
              </a:ext>
            </a:extLst>
          </p:cNvPr>
          <p:cNvCxnSpPr>
            <a:cxnSpLocks/>
            <a:stCxn id="19" idx="1"/>
            <a:endCxn id="9" idx="3"/>
          </p:cNvCxnSpPr>
          <p:nvPr/>
        </p:nvCxnSpPr>
        <p:spPr>
          <a:xfrm flipH="1">
            <a:off x="3996507" y="3470279"/>
            <a:ext cx="110375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613ABC0E-8594-8E98-F2FF-2E78C5D14E6F}"/>
              </a:ext>
            </a:extLst>
          </p:cNvPr>
          <p:cNvCxnSpPr>
            <a:cxnSpLocks/>
            <a:stCxn id="33" idx="1"/>
            <a:endCxn id="19" idx="3"/>
          </p:cNvCxnSpPr>
          <p:nvPr/>
        </p:nvCxnSpPr>
        <p:spPr>
          <a:xfrm flipH="1">
            <a:off x="6920101" y="3470279"/>
            <a:ext cx="104417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5EF38C35-9C1D-625B-B45D-E90D430886BB}"/>
              </a:ext>
            </a:extLst>
          </p:cNvPr>
          <p:cNvCxnSpPr>
            <a:cxnSpLocks/>
            <a:stCxn id="36" idx="0"/>
            <a:endCxn id="33" idx="2"/>
          </p:cNvCxnSpPr>
          <p:nvPr/>
        </p:nvCxnSpPr>
        <p:spPr>
          <a:xfrm flipH="1" flipV="1">
            <a:off x="9276701" y="3902327"/>
            <a:ext cx="9948" cy="60729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Прямая со стрелкой 1023">
            <a:extLst>
              <a:ext uri="{FF2B5EF4-FFF2-40B4-BE49-F238E27FC236}">
                <a16:creationId xmlns:a16="http://schemas.microsoft.com/office/drawing/2014/main" id="{1744D261-8B09-7374-21E4-3F8F50629FA2}"/>
              </a:ext>
            </a:extLst>
          </p:cNvPr>
          <p:cNvCxnSpPr>
            <a:cxnSpLocks/>
          </p:cNvCxnSpPr>
          <p:nvPr/>
        </p:nvCxnSpPr>
        <p:spPr>
          <a:xfrm flipV="1">
            <a:off x="6822646" y="3820244"/>
            <a:ext cx="1141631" cy="77958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5A28777-AFF3-7685-7088-EAA39600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78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C1F8F-0806-FCBD-2E2D-12CA660A0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99D00-E861-B0CB-273A-C515F80B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60554"/>
            <a:ext cx="10273748" cy="849175"/>
          </a:xfrm>
        </p:spPr>
        <p:txBody>
          <a:bodyPr/>
          <a:lstStyle/>
          <a:p>
            <a:r>
              <a:rPr lang="ru-RU" dirty="0"/>
              <a:t>Точки кастомизации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EC576E6-6EDE-7DFC-6B66-03D788446490}"/>
              </a:ext>
            </a:extLst>
          </p:cNvPr>
          <p:cNvGrpSpPr/>
          <p:nvPr/>
        </p:nvGrpSpPr>
        <p:grpSpPr>
          <a:xfrm>
            <a:off x="1653693" y="1536403"/>
            <a:ext cx="2314058" cy="864096"/>
            <a:chOff x="876403" y="2278198"/>
            <a:chExt cx="2314058" cy="864096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624FA57-76EA-36C4-0C1B-6209C1160A26}"/>
                </a:ext>
              </a:extLst>
            </p:cNvPr>
            <p:cNvSpPr/>
            <p:nvPr/>
          </p:nvSpPr>
          <p:spPr bwMode="auto">
            <a:xfrm>
              <a:off x="876403" y="2278198"/>
              <a:ext cx="231405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 err="1">
                  <a:latin typeface="SB Sans Display Light"/>
                </a:rPr>
                <a:t>Фронтенд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791C28E3-7FF8-41EF-4835-B5160F217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403" y="2470209"/>
              <a:ext cx="777073" cy="54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54BAEFB-ABDF-4FC4-3937-B8EE976877EF}"/>
              </a:ext>
            </a:extLst>
          </p:cNvPr>
          <p:cNvGrpSpPr/>
          <p:nvPr/>
        </p:nvGrpSpPr>
        <p:grpSpPr>
          <a:xfrm>
            <a:off x="1624937" y="3038231"/>
            <a:ext cx="2371570" cy="864096"/>
            <a:chOff x="5705629" y="2854002"/>
            <a:chExt cx="2371570" cy="8640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FDA40452-39D7-597D-5258-E6E6AE220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629" y="2854002"/>
              <a:ext cx="2371570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 err="1">
                  <a:latin typeface="SB Sans Display Light"/>
                </a:rPr>
                <a:t>Вебсервер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10" name="Picture 12">
              <a:extLst>
                <a:ext uri="{FF2B5EF4-FFF2-40B4-BE49-F238E27FC236}">
                  <a16:creationId xmlns:a16="http://schemas.microsoft.com/office/drawing/2014/main" id="{B37FB7EA-626F-6AA1-E298-8166187496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1419" y="3091078"/>
              <a:ext cx="572219" cy="429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C6BEDE66-362E-B054-1364-C3936D05CB06}"/>
              </a:ext>
            </a:extLst>
          </p:cNvPr>
          <p:cNvGrpSpPr/>
          <p:nvPr/>
        </p:nvGrpSpPr>
        <p:grpSpPr>
          <a:xfrm>
            <a:off x="1958732" y="4546085"/>
            <a:ext cx="1703979" cy="864096"/>
            <a:chOff x="6050544" y="5452401"/>
            <a:chExt cx="1703979" cy="864096"/>
          </a:xfrm>
        </p:grpSpPr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3D3167A9-C2EB-2901-5121-D0D17CD54CD7}"/>
                </a:ext>
              </a:extLst>
            </p:cNvPr>
            <p:cNvSpPr/>
            <p:nvPr/>
          </p:nvSpPr>
          <p:spPr bwMode="auto">
            <a:xfrm>
              <a:off x="6050544" y="5452401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>
                  <a:latin typeface="SB Sans Display Light"/>
                </a:rPr>
                <a:t>СУБД</a:t>
              </a:r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C2CBBC6F-C8EB-A32D-1A70-FA9819E8BF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4390" y="5553039"/>
              <a:ext cx="715659" cy="715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B9839159-D7BF-C32D-A3A0-A80D0ADC43FD}"/>
              </a:ext>
            </a:extLst>
          </p:cNvPr>
          <p:cNvGrpSpPr/>
          <p:nvPr/>
        </p:nvGrpSpPr>
        <p:grpSpPr>
          <a:xfrm>
            <a:off x="5100265" y="3038231"/>
            <a:ext cx="1819836" cy="864096"/>
            <a:chOff x="4928918" y="2270225"/>
            <a:chExt cx="1819836" cy="864096"/>
          </a:xfrm>
        </p:grpSpPr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47DB6098-DDAC-58D8-46EB-AC3346E6B8F9}"/>
                </a:ext>
              </a:extLst>
            </p:cNvPr>
            <p:cNvSpPr/>
            <p:nvPr/>
          </p:nvSpPr>
          <p:spPr>
            <a:xfrm>
              <a:off x="4928918" y="2270225"/>
              <a:ext cx="1819836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SB Sans Display Light"/>
                </a:rPr>
                <a:t>Kafka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20" name="Picture 6">
              <a:extLst>
                <a:ext uri="{FF2B5EF4-FFF2-40B4-BE49-F238E27FC236}">
                  <a16:creationId xmlns:a16="http://schemas.microsoft.com/office/drawing/2014/main" id="{18BAFBE8-9F2F-BD1C-1C76-A7BF9DD389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3147" y="2417274"/>
              <a:ext cx="812706" cy="606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6F41DCAA-EF51-84C6-4107-61DD7EF592B5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2810722" y="2400499"/>
            <a:ext cx="0" cy="63773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39FE7C8E-3076-F1FA-E62A-4140596272B6}"/>
              </a:ext>
            </a:extLst>
          </p:cNvPr>
          <p:cNvGrpSpPr/>
          <p:nvPr/>
        </p:nvGrpSpPr>
        <p:grpSpPr>
          <a:xfrm>
            <a:off x="5158193" y="4516335"/>
            <a:ext cx="1703979" cy="893846"/>
            <a:chOff x="5498577" y="4740164"/>
            <a:chExt cx="1703979" cy="893846"/>
          </a:xfrm>
        </p:grpSpPr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095920C2-C5CF-E876-1500-A15C8089DA3C}"/>
                </a:ext>
              </a:extLst>
            </p:cNvPr>
            <p:cNvSpPr/>
            <p:nvPr/>
          </p:nvSpPr>
          <p:spPr bwMode="auto">
            <a:xfrm>
              <a:off x="5498577" y="4769914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 err="1">
                  <a:latin typeface="SB Sans Display Light"/>
                </a:rPr>
                <a:t>MinIO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1026" name="Picture 2" descr="Picture background">
              <a:extLst>
                <a:ext uri="{FF2B5EF4-FFF2-40B4-BE49-F238E27FC236}">
                  <a16:creationId xmlns:a16="http://schemas.microsoft.com/office/drawing/2014/main" id="{BC290BA1-533E-8398-A9B8-43E1B78C3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4997" y="4740164"/>
              <a:ext cx="598380" cy="893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D19D7DA-EA5A-A8F4-C6F7-AE8F918C6F88}"/>
              </a:ext>
            </a:extLst>
          </p:cNvPr>
          <p:cNvGrpSpPr/>
          <p:nvPr/>
        </p:nvGrpSpPr>
        <p:grpSpPr>
          <a:xfrm>
            <a:off x="7964277" y="3038231"/>
            <a:ext cx="2624847" cy="864096"/>
            <a:chOff x="5062312" y="2308196"/>
            <a:chExt cx="2624847" cy="864096"/>
          </a:xfrm>
        </p:grpSpPr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37CD9053-1524-93C7-D839-A04FEF39376E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SB Sans Display Light"/>
                </a:rPr>
                <a:t>Test-Runner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34" name="Picture 10">
              <a:extLst>
                <a:ext uri="{FF2B5EF4-FFF2-40B4-BE49-F238E27FC236}">
                  <a16:creationId xmlns:a16="http://schemas.microsoft.com/office/drawing/2014/main" id="{3DE6B804-521A-6F69-A9F4-4467C8380E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9F4E6C1D-BD9C-C3BA-C3D4-43835B16A7F7}"/>
              </a:ext>
            </a:extLst>
          </p:cNvPr>
          <p:cNvGrpSpPr/>
          <p:nvPr/>
        </p:nvGrpSpPr>
        <p:grpSpPr>
          <a:xfrm>
            <a:off x="7940508" y="4509619"/>
            <a:ext cx="2692282" cy="864096"/>
            <a:chOff x="8338910" y="1543878"/>
            <a:chExt cx="2692282" cy="864096"/>
          </a:xfrm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C59F4B56-E282-B292-EB36-383DE93F260E}"/>
                </a:ext>
              </a:extLst>
            </p:cNvPr>
            <p:cNvSpPr/>
            <p:nvPr/>
          </p:nvSpPr>
          <p:spPr bwMode="auto">
            <a:xfrm>
              <a:off x="8338910" y="1543878"/>
              <a:ext cx="269228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SB Sans Display Light"/>
                </a:rPr>
                <a:t>Docker Engine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37" name="Picture 8">
              <a:extLst>
                <a:ext uri="{FF2B5EF4-FFF2-40B4-BE49-F238E27FC236}">
                  <a16:creationId xmlns:a16="http://schemas.microsoft.com/office/drawing/2014/main" id="{CA3C04FA-0485-91DA-F7BF-DDCD42CFC2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5370" y="1739027"/>
              <a:ext cx="472419" cy="47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55B2285B-B8D0-F83D-2B7C-CEF568FE82C3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V="1">
            <a:off x="2810722" y="3902327"/>
            <a:ext cx="0" cy="64375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518975EC-2CCD-9AFD-A97E-9A3B474466F8}"/>
              </a:ext>
            </a:extLst>
          </p:cNvPr>
          <p:cNvCxnSpPr>
            <a:cxnSpLocks/>
          </p:cNvCxnSpPr>
          <p:nvPr/>
        </p:nvCxnSpPr>
        <p:spPr>
          <a:xfrm flipH="1" flipV="1">
            <a:off x="3996507" y="3821879"/>
            <a:ext cx="1185785" cy="77795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2B4AE49F-B90A-C976-8367-11D0E2AFCFFB}"/>
              </a:ext>
            </a:extLst>
          </p:cNvPr>
          <p:cNvCxnSpPr>
            <a:cxnSpLocks/>
            <a:stCxn id="19" idx="1"/>
            <a:endCxn id="9" idx="3"/>
          </p:cNvCxnSpPr>
          <p:nvPr/>
        </p:nvCxnSpPr>
        <p:spPr>
          <a:xfrm flipH="1">
            <a:off x="3996507" y="3470279"/>
            <a:ext cx="110375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878DFEC4-7C11-FB85-77B4-05697B6162C7}"/>
              </a:ext>
            </a:extLst>
          </p:cNvPr>
          <p:cNvCxnSpPr>
            <a:cxnSpLocks/>
            <a:stCxn id="33" idx="1"/>
            <a:endCxn id="19" idx="3"/>
          </p:cNvCxnSpPr>
          <p:nvPr/>
        </p:nvCxnSpPr>
        <p:spPr>
          <a:xfrm flipH="1">
            <a:off x="6920101" y="3470279"/>
            <a:ext cx="104417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DD5C80E7-60C7-C9F7-FB74-3C1C3488B155}"/>
              </a:ext>
            </a:extLst>
          </p:cNvPr>
          <p:cNvCxnSpPr>
            <a:cxnSpLocks/>
            <a:stCxn id="36" idx="0"/>
            <a:endCxn id="33" idx="2"/>
          </p:cNvCxnSpPr>
          <p:nvPr/>
        </p:nvCxnSpPr>
        <p:spPr>
          <a:xfrm flipH="1" flipV="1">
            <a:off x="9276701" y="3902327"/>
            <a:ext cx="9948" cy="60729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Прямая со стрелкой 1023">
            <a:extLst>
              <a:ext uri="{FF2B5EF4-FFF2-40B4-BE49-F238E27FC236}">
                <a16:creationId xmlns:a16="http://schemas.microsoft.com/office/drawing/2014/main" id="{2727C270-382C-C500-22AB-2936CF667E0B}"/>
              </a:ext>
            </a:extLst>
          </p:cNvPr>
          <p:cNvCxnSpPr>
            <a:cxnSpLocks/>
          </p:cNvCxnSpPr>
          <p:nvPr/>
        </p:nvCxnSpPr>
        <p:spPr>
          <a:xfrm flipV="1">
            <a:off x="6822646" y="3820244"/>
            <a:ext cx="1141631" cy="77958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F5FB77A-265D-FDE7-1FA3-B44ECB271AF4}"/>
              </a:ext>
            </a:extLst>
          </p:cNvPr>
          <p:cNvSpPr/>
          <p:nvPr/>
        </p:nvSpPr>
        <p:spPr>
          <a:xfrm>
            <a:off x="1437861" y="1408166"/>
            <a:ext cx="2776325" cy="11198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B4641E-38BC-BCEE-B963-FB7793DF73CB}"/>
              </a:ext>
            </a:extLst>
          </p:cNvPr>
          <p:cNvSpPr/>
          <p:nvPr/>
        </p:nvSpPr>
        <p:spPr>
          <a:xfrm>
            <a:off x="1437861" y="2903098"/>
            <a:ext cx="2776325" cy="11198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14C7D0C-C965-6D01-0B40-306AEAFAA239}"/>
              </a:ext>
            </a:extLst>
          </p:cNvPr>
          <p:cNvSpPr/>
          <p:nvPr/>
        </p:nvSpPr>
        <p:spPr>
          <a:xfrm>
            <a:off x="7816264" y="2867398"/>
            <a:ext cx="2940769" cy="1174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D85CD12-D38F-C3C3-BB45-3944B84DC761}"/>
              </a:ext>
            </a:extLst>
          </p:cNvPr>
          <p:cNvSpPr/>
          <p:nvPr/>
        </p:nvSpPr>
        <p:spPr>
          <a:xfrm>
            <a:off x="7828149" y="4352919"/>
            <a:ext cx="2940769" cy="1174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506EF6-ED7A-BB94-3912-AA97768BB241}"/>
              </a:ext>
            </a:extLst>
          </p:cNvPr>
          <p:cNvSpPr txBox="1"/>
          <p:nvPr/>
        </p:nvSpPr>
        <p:spPr>
          <a:xfrm>
            <a:off x="4363686" y="895446"/>
            <a:ext cx="3207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подсветка синтаксиса</a:t>
            </a:r>
          </a:p>
          <a:p>
            <a:pPr marL="285750" indent="-285750">
              <a:buFontTx/>
              <a:buChar char="-"/>
            </a:pPr>
            <a:r>
              <a:rPr lang="en-US" dirty="0"/>
              <a:t>autocomplete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3C0618-9675-5205-174A-FD1659B2A05A}"/>
              </a:ext>
            </a:extLst>
          </p:cNvPr>
          <p:cNvSpPr txBox="1"/>
          <p:nvPr/>
        </p:nvSpPr>
        <p:spPr>
          <a:xfrm>
            <a:off x="8056968" y="5568864"/>
            <a:ext cx="3829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пользовательские </a:t>
            </a:r>
            <a:r>
              <a:rPr lang="en-US" dirty="0"/>
              <a:t>Docker </a:t>
            </a:r>
            <a:r>
              <a:rPr lang="ru-RU" dirty="0"/>
              <a:t>образы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0D78E7-79C0-3FB5-5B7B-6E35B2870A32}"/>
              </a:ext>
            </a:extLst>
          </p:cNvPr>
          <p:cNvSpPr txBox="1"/>
          <p:nvPr/>
        </p:nvSpPr>
        <p:spPr>
          <a:xfrm>
            <a:off x="8652037" y="1610239"/>
            <a:ext cx="34052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имя образа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логика запуска контейнера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логика парсинга и проверки результатов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3ABBF7-0D1D-99DB-E463-E3D63618F981}"/>
              </a:ext>
            </a:extLst>
          </p:cNvPr>
          <p:cNvSpPr txBox="1"/>
          <p:nvPr/>
        </p:nvSpPr>
        <p:spPr>
          <a:xfrm>
            <a:off x="4391558" y="2432124"/>
            <a:ext cx="3207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список языков</a:t>
            </a:r>
          </a:p>
          <a:p>
            <a:pPr marL="285750" indent="-285750">
              <a:buFontTx/>
              <a:buChar char="-"/>
            </a:pPr>
            <a:r>
              <a:rPr lang="ru-RU" dirty="0"/>
              <a:t>сохранение задачи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92585CF5-2072-A2B6-8766-F83098649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168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7D9E0-07EF-5FAD-5B06-E22531A0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-74751"/>
            <a:ext cx="9915939" cy="973422"/>
          </a:xfrm>
        </p:spPr>
        <p:txBody>
          <a:bodyPr/>
          <a:lstStyle/>
          <a:p>
            <a:r>
              <a:rPr lang="ru-RU" dirty="0"/>
              <a:t>Взаимодействие фронт-бэк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E03CA76-BFDE-EE41-AFF0-E86E2E00CE32}"/>
              </a:ext>
            </a:extLst>
          </p:cNvPr>
          <p:cNvGrpSpPr/>
          <p:nvPr/>
        </p:nvGrpSpPr>
        <p:grpSpPr>
          <a:xfrm>
            <a:off x="2647605" y="1104006"/>
            <a:ext cx="2314058" cy="864096"/>
            <a:chOff x="876403" y="2278198"/>
            <a:chExt cx="2314058" cy="864096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32348553-2FDA-B4F1-1617-1A84EA7B90BA}"/>
                </a:ext>
              </a:extLst>
            </p:cNvPr>
            <p:cNvSpPr/>
            <p:nvPr/>
          </p:nvSpPr>
          <p:spPr bwMode="auto">
            <a:xfrm>
              <a:off x="876403" y="2278198"/>
              <a:ext cx="231405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 err="1">
                  <a:latin typeface="SB Sans Display Light"/>
                </a:rPr>
                <a:t>Фронтенд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403194C-18A6-C55F-29C2-A0B117EEC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403" y="2467291"/>
              <a:ext cx="777073" cy="54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C1AA7F4-F1AC-D7E0-43D1-AC4359D3F77D}"/>
              </a:ext>
            </a:extLst>
          </p:cNvPr>
          <p:cNvGrpSpPr/>
          <p:nvPr/>
        </p:nvGrpSpPr>
        <p:grpSpPr>
          <a:xfrm>
            <a:off x="6720397" y="1104006"/>
            <a:ext cx="2371570" cy="864096"/>
            <a:chOff x="5705629" y="2854002"/>
            <a:chExt cx="2371570" cy="864096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74A35E29-7AD1-A06A-E6D6-212E2F65F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629" y="2854002"/>
              <a:ext cx="2371570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 err="1">
                  <a:latin typeface="SB Sans Display Light"/>
                </a:rPr>
                <a:t>Вебсервер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9" name="Picture 12">
              <a:extLst>
                <a:ext uri="{FF2B5EF4-FFF2-40B4-BE49-F238E27FC236}">
                  <a16:creationId xmlns:a16="http://schemas.microsoft.com/office/drawing/2014/main" id="{411E27A9-EA43-9BD4-C478-FF48DF61EE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1419" y="3091078"/>
              <a:ext cx="572219" cy="429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79930557-D8B5-0640-896C-EB33F1ED3C2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804634" y="1968102"/>
            <a:ext cx="0" cy="47573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988618F-E29A-602D-F4DE-9471015EAA9B}"/>
              </a:ext>
            </a:extLst>
          </p:cNvPr>
          <p:cNvCxnSpPr>
            <a:cxnSpLocks/>
          </p:cNvCxnSpPr>
          <p:nvPr/>
        </p:nvCxnSpPr>
        <p:spPr>
          <a:xfrm>
            <a:off x="7908703" y="1968102"/>
            <a:ext cx="0" cy="47573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987A306-39DE-BFB9-41B1-584AF5BD3CDD}"/>
              </a:ext>
            </a:extLst>
          </p:cNvPr>
          <p:cNvCxnSpPr>
            <a:cxnSpLocks/>
          </p:cNvCxnSpPr>
          <p:nvPr/>
        </p:nvCxnSpPr>
        <p:spPr>
          <a:xfrm>
            <a:off x="3804634" y="2438872"/>
            <a:ext cx="4101548" cy="3909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6EB852-4C0B-34E3-EEF7-BF726F94B093}"/>
              </a:ext>
            </a:extLst>
          </p:cNvPr>
          <p:cNvSpPr txBox="1"/>
          <p:nvPr/>
        </p:nvSpPr>
        <p:spPr>
          <a:xfrm>
            <a:off x="1486284" y="2265009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 открытии сайта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B6436E-3583-38A5-7932-C973FC0C2846}"/>
              </a:ext>
            </a:extLst>
          </p:cNvPr>
          <p:cNvSpPr txBox="1"/>
          <p:nvPr/>
        </p:nvSpPr>
        <p:spPr>
          <a:xfrm rot="330106">
            <a:off x="4008258" y="2177701"/>
            <a:ext cx="2092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Какие есть языки?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A9323FF-74AD-1CA7-9D26-601D3FC17B6E}"/>
              </a:ext>
            </a:extLst>
          </p:cNvPr>
          <p:cNvCxnSpPr>
            <a:cxnSpLocks/>
          </p:cNvCxnSpPr>
          <p:nvPr/>
        </p:nvCxnSpPr>
        <p:spPr>
          <a:xfrm flipH="1">
            <a:off x="3804634" y="3154407"/>
            <a:ext cx="4101548" cy="3909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2860345-DF84-19ED-55F8-C92EBDAC7845}"/>
              </a:ext>
            </a:extLst>
          </p:cNvPr>
          <p:cNvSpPr txBox="1"/>
          <p:nvPr/>
        </p:nvSpPr>
        <p:spPr>
          <a:xfrm rot="21302910">
            <a:off x="5211782" y="2974585"/>
            <a:ext cx="176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Массив языков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B22B4B-004B-9E86-C6D3-B47BBA73ADF1}"/>
              </a:ext>
            </a:extLst>
          </p:cNvPr>
          <p:cNvSpPr txBox="1"/>
          <p:nvPr/>
        </p:nvSpPr>
        <p:spPr>
          <a:xfrm>
            <a:off x="8130817" y="2173437"/>
            <a:ext cx="38794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[{</a:t>
            </a:r>
            <a:br>
              <a:rPr lang="en-US" dirty="0"/>
            </a:br>
            <a:r>
              <a:rPr lang="ru-RU" dirty="0"/>
              <a:t>    </a:t>
            </a:r>
            <a:r>
              <a:rPr lang="en-US" dirty="0"/>
              <a:t>id: "java",</a:t>
            </a:r>
            <a:br>
              <a:rPr lang="en-US" dirty="0"/>
            </a:br>
            <a:r>
              <a:rPr lang="ru-RU" dirty="0"/>
              <a:t>    </a:t>
            </a:r>
            <a:r>
              <a:rPr lang="en-US" dirty="0"/>
              <a:t>name: "Java",</a:t>
            </a:r>
            <a:br>
              <a:rPr lang="en-US" dirty="0"/>
            </a:br>
            <a:r>
              <a:rPr lang="en-US" dirty="0"/>
              <a:t>    </a:t>
            </a:r>
            <a:r>
              <a:rPr lang="en-US" dirty="0" err="1"/>
              <a:t>iconPath</a:t>
            </a:r>
            <a:r>
              <a:rPr lang="en-US" dirty="0"/>
              <a:t>: "/plugins/</a:t>
            </a:r>
            <a:r>
              <a:rPr lang="en-US" dirty="0" err="1"/>
              <a:t>java.svg</a:t>
            </a:r>
            <a:r>
              <a:rPr lang="en-US" dirty="0"/>
              <a:t>",</a:t>
            </a:r>
            <a:br>
              <a:rPr lang="en-US" dirty="0"/>
            </a:br>
            <a:r>
              <a:rPr lang="ru-RU" dirty="0"/>
              <a:t>    </a:t>
            </a:r>
            <a:r>
              <a:rPr lang="en-US" dirty="0" err="1"/>
              <a:t>monacoLanguageId</a:t>
            </a:r>
            <a:r>
              <a:rPr lang="en-US" dirty="0"/>
              <a:t>: "java",</a:t>
            </a:r>
            <a:br>
              <a:rPr lang="en-US" dirty="0"/>
            </a:br>
            <a:r>
              <a:rPr lang="ru-RU" dirty="0"/>
              <a:t>    </a:t>
            </a:r>
            <a:r>
              <a:rPr lang="en-US" dirty="0" err="1"/>
              <a:t>modulePath</a:t>
            </a:r>
            <a:r>
              <a:rPr lang="en-US" dirty="0"/>
              <a:t>: "/plugins/java.js"</a:t>
            </a:r>
          </a:p>
          <a:p>
            <a:r>
              <a:rPr lang="en-US" dirty="0"/>
              <a:t>}]</a:t>
            </a:r>
            <a:endParaRPr lang="ru-RU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865F76A3-7DE1-AB9B-7B3A-9C585DD8E3BE}"/>
              </a:ext>
            </a:extLst>
          </p:cNvPr>
          <p:cNvCxnSpPr>
            <a:cxnSpLocks/>
          </p:cNvCxnSpPr>
          <p:nvPr/>
        </p:nvCxnSpPr>
        <p:spPr>
          <a:xfrm>
            <a:off x="3815092" y="4392385"/>
            <a:ext cx="4101548" cy="3909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AC191FD-6075-2FB9-D380-6AA8FEFE3E9A}"/>
              </a:ext>
            </a:extLst>
          </p:cNvPr>
          <p:cNvSpPr txBox="1"/>
          <p:nvPr/>
        </p:nvSpPr>
        <p:spPr>
          <a:xfrm>
            <a:off x="1419711" y="4162124"/>
            <a:ext cx="2403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открытии</a:t>
            </a:r>
            <a:r>
              <a:rPr lang="en-US" dirty="0"/>
              <a:t> </a:t>
            </a:r>
            <a:r>
              <a:rPr lang="ru-RU" dirty="0"/>
              <a:t>задачи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CD0D59-6022-3FF0-B2F0-8DBF78CF084C}"/>
              </a:ext>
            </a:extLst>
          </p:cNvPr>
          <p:cNvSpPr txBox="1"/>
          <p:nvPr/>
        </p:nvSpPr>
        <p:spPr>
          <a:xfrm rot="302154">
            <a:off x="3911749" y="4191756"/>
            <a:ext cx="3638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Скачать </a:t>
            </a:r>
            <a:r>
              <a:rPr lang="en-US" dirty="0"/>
              <a:t>JS </a:t>
            </a:r>
            <a:r>
              <a:rPr lang="ru-RU" dirty="0"/>
              <a:t>модуль из </a:t>
            </a:r>
            <a:r>
              <a:rPr lang="en-US" dirty="0" err="1"/>
              <a:t>modulePath</a:t>
            </a:r>
            <a:endParaRPr lang="ru-RU" dirty="0"/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54997BC4-7FF3-F357-B45A-AD507B48132F}"/>
              </a:ext>
            </a:extLst>
          </p:cNvPr>
          <p:cNvCxnSpPr>
            <a:cxnSpLocks/>
          </p:cNvCxnSpPr>
          <p:nvPr/>
        </p:nvCxnSpPr>
        <p:spPr>
          <a:xfrm>
            <a:off x="3829702" y="4803882"/>
            <a:ext cx="4101548" cy="3909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748645C-72EB-BEC4-8B96-43098F275B86}"/>
              </a:ext>
            </a:extLst>
          </p:cNvPr>
          <p:cNvSpPr txBox="1"/>
          <p:nvPr/>
        </p:nvSpPr>
        <p:spPr>
          <a:xfrm rot="327824">
            <a:off x="4006520" y="4582183"/>
            <a:ext cx="283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Скачать данные о задаче</a:t>
            </a: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05103FD7-A2E4-2396-3EF8-9991097D5673}"/>
              </a:ext>
            </a:extLst>
          </p:cNvPr>
          <p:cNvCxnSpPr>
            <a:cxnSpLocks/>
          </p:cNvCxnSpPr>
          <p:nvPr/>
        </p:nvCxnSpPr>
        <p:spPr>
          <a:xfrm flipH="1">
            <a:off x="3803911" y="5363055"/>
            <a:ext cx="4101548" cy="3909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0801F67E-92EA-D890-8FD2-A373FFB84B10}"/>
              </a:ext>
            </a:extLst>
          </p:cNvPr>
          <p:cNvCxnSpPr>
            <a:cxnSpLocks/>
          </p:cNvCxnSpPr>
          <p:nvPr/>
        </p:nvCxnSpPr>
        <p:spPr>
          <a:xfrm flipH="1">
            <a:off x="3811124" y="5710454"/>
            <a:ext cx="4101548" cy="3909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3B50691-1843-E68E-7779-54355DB23D43}"/>
              </a:ext>
            </a:extLst>
          </p:cNvPr>
          <p:cNvSpPr txBox="1"/>
          <p:nvPr/>
        </p:nvSpPr>
        <p:spPr>
          <a:xfrm>
            <a:off x="388760" y="6101393"/>
            <a:ext cx="3193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Передаем данные о задаче в </a:t>
            </a:r>
            <a:r>
              <a:rPr lang="en-US" dirty="0"/>
              <a:t>JS </a:t>
            </a:r>
            <a:r>
              <a:rPr lang="ru-RU" dirty="0"/>
              <a:t>модуль конкретного языка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FFD973-3C54-7D1C-E049-A7944171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93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F93A3-DF77-94EB-ADAC-DC8968E3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2" y="0"/>
            <a:ext cx="9856305" cy="756410"/>
          </a:xfrm>
        </p:spPr>
        <p:txBody>
          <a:bodyPr/>
          <a:lstStyle/>
          <a:p>
            <a:r>
              <a:rPr lang="ru-RU" dirty="0" err="1"/>
              <a:t>Плагинизация</a:t>
            </a:r>
            <a:r>
              <a:rPr lang="ru-RU" dirty="0"/>
              <a:t> сервиса </a:t>
            </a:r>
            <a:r>
              <a:rPr lang="en-US" dirty="0"/>
              <a:t>Test-Runner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A0CED9-9E79-B830-1EBC-EC42F4CFE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2348" y="3019635"/>
            <a:ext cx="5174973" cy="3623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Language Plugin SDK</a:t>
            </a:r>
            <a:endParaRPr lang="ru-RU" dirty="0"/>
          </a:p>
          <a:p>
            <a:r>
              <a:rPr lang="ru-RU" dirty="0"/>
              <a:t>Базовый конвейер запуска</a:t>
            </a:r>
            <a:r>
              <a:rPr lang="en-US" dirty="0"/>
              <a:t> docker </a:t>
            </a:r>
            <a:r>
              <a:rPr lang="ru-RU" dirty="0"/>
              <a:t>контейнера</a:t>
            </a:r>
          </a:p>
          <a:p>
            <a:r>
              <a:rPr lang="ru-RU" dirty="0"/>
              <a:t>Чтение логов</a:t>
            </a:r>
          </a:p>
          <a:p>
            <a:r>
              <a:rPr lang="ru-RU" dirty="0"/>
              <a:t>Работа с </a:t>
            </a:r>
            <a:r>
              <a:rPr lang="en-US" dirty="0"/>
              <a:t>tar </a:t>
            </a:r>
            <a:r>
              <a:rPr lang="ru-RU" dirty="0"/>
              <a:t>архивами</a:t>
            </a:r>
          </a:p>
          <a:p>
            <a:r>
              <a:rPr lang="ru-RU" dirty="0"/>
              <a:t>Парсер формата </a:t>
            </a:r>
            <a:r>
              <a:rPr lang="en-US" dirty="0"/>
              <a:t>Junit.xml</a:t>
            </a:r>
            <a:endParaRPr lang="ru-RU" dirty="0"/>
          </a:p>
          <a:p>
            <a:r>
              <a:rPr lang="ru-RU" dirty="0"/>
              <a:t>Тесты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A4AD3-B6B2-7323-0E08-7922EB19F208}"/>
              </a:ext>
            </a:extLst>
          </p:cNvPr>
          <p:cNvSpPr txBox="1"/>
          <p:nvPr/>
        </p:nvSpPr>
        <p:spPr>
          <a:xfrm>
            <a:off x="588066" y="3518783"/>
            <a:ext cx="61042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0033B3"/>
                </a:solidFill>
                <a:effectLst/>
                <a:latin typeface="Inter"/>
              </a:rPr>
              <a:t>public interface </a:t>
            </a:r>
            <a:r>
              <a:rPr lang="en-US" sz="2400" dirty="0" err="1">
                <a:solidFill>
                  <a:srgbClr val="000000"/>
                </a:solidFill>
                <a:effectLst/>
                <a:latin typeface="Inter"/>
              </a:rPr>
              <a:t>LanguageTester</a:t>
            </a:r>
            <a:r>
              <a:rPr lang="en-US" sz="240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{</a:t>
            </a:r>
            <a:br>
              <a:rPr lang="en-US" sz="2400" dirty="0">
                <a:solidFill>
                  <a:srgbClr val="080808"/>
                </a:solidFill>
                <a:effectLst/>
                <a:latin typeface="Inter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    </a:t>
            </a:r>
            <a:r>
              <a:rPr lang="en-US" sz="2400" dirty="0" err="1">
                <a:solidFill>
                  <a:srgbClr val="080808"/>
                </a:solidFill>
                <a:effectLst/>
                <a:latin typeface="Inter"/>
              </a:rPr>
              <a:t>TestExecutionResult</a:t>
            </a: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 </a:t>
            </a:r>
            <a:r>
              <a:rPr lang="en-US" sz="2400" dirty="0">
                <a:solidFill>
                  <a:srgbClr val="00627A"/>
                </a:solidFill>
                <a:effectLst/>
                <a:latin typeface="Inter"/>
              </a:rPr>
              <a:t>test</a:t>
            </a: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(</a:t>
            </a:r>
            <a:br>
              <a:rPr lang="en-US" sz="2400" dirty="0">
                <a:solidFill>
                  <a:srgbClr val="080808"/>
                </a:solidFill>
                <a:effectLst/>
                <a:latin typeface="Inter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            </a:t>
            </a:r>
            <a:r>
              <a:rPr lang="en-US" sz="2400" dirty="0" err="1">
                <a:solidFill>
                  <a:srgbClr val="080808"/>
                </a:solidFill>
                <a:effectLst/>
                <a:latin typeface="Inter"/>
              </a:rPr>
              <a:t>DockerClient</a:t>
            </a: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Inter"/>
              </a:rPr>
              <a:t>dockerClient</a:t>
            </a: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,</a:t>
            </a:r>
            <a:br>
              <a:rPr lang="en-US" sz="2400" dirty="0">
                <a:solidFill>
                  <a:srgbClr val="080808"/>
                </a:solidFill>
                <a:effectLst/>
                <a:latin typeface="Inter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            Problem </a:t>
            </a:r>
            <a:r>
              <a:rPr lang="en-US" sz="2400" dirty="0">
                <a:solidFill>
                  <a:srgbClr val="000000"/>
                </a:solidFill>
                <a:effectLst/>
                <a:latin typeface="Inter"/>
              </a:rPr>
              <a:t>problem</a:t>
            </a: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,</a:t>
            </a:r>
            <a:br>
              <a:rPr lang="en-US" sz="2400" dirty="0">
                <a:solidFill>
                  <a:srgbClr val="080808"/>
                </a:solidFill>
                <a:effectLst/>
                <a:latin typeface="Inter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            Solution </a:t>
            </a:r>
            <a:r>
              <a:rPr lang="en-US" sz="2400" dirty="0" err="1">
                <a:solidFill>
                  <a:srgbClr val="000000"/>
                </a:solidFill>
                <a:effectLst/>
                <a:latin typeface="Inter"/>
              </a:rPr>
              <a:t>solution</a:t>
            </a:r>
            <a:br>
              <a:rPr lang="en-US" sz="240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sz="2400" dirty="0">
                <a:solidFill>
                  <a:srgbClr val="000000"/>
                </a:solidFill>
                <a:effectLst/>
                <a:latin typeface="Inter"/>
              </a:rPr>
              <a:t>    </a:t>
            </a: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);</a:t>
            </a:r>
            <a:br>
              <a:rPr lang="en-US" sz="2400" dirty="0">
                <a:solidFill>
                  <a:srgbClr val="080808"/>
                </a:solidFill>
                <a:effectLst/>
                <a:latin typeface="Inter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Inter"/>
              </a:rPr>
              <a:t>}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CC3FE591-AA8E-2C4C-DC25-3FB5E919252A}"/>
              </a:ext>
            </a:extLst>
          </p:cNvPr>
          <p:cNvGrpSpPr/>
          <p:nvPr/>
        </p:nvGrpSpPr>
        <p:grpSpPr>
          <a:xfrm>
            <a:off x="1449291" y="937230"/>
            <a:ext cx="1819836" cy="864096"/>
            <a:chOff x="4928918" y="2270225"/>
            <a:chExt cx="1819836" cy="864096"/>
          </a:xfrm>
        </p:grpSpPr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FB111806-DD99-F174-3598-8FF25AD42DDB}"/>
                </a:ext>
              </a:extLst>
            </p:cNvPr>
            <p:cNvSpPr/>
            <p:nvPr/>
          </p:nvSpPr>
          <p:spPr>
            <a:xfrm>
              <a:off x="4928918" y="2270225"/>
              <a:ext cx="1819836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SB Sans Display Light"/>
                </a:rPr>
                <a:t>Kafka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455B3104-29CD-94A6-2CC7-087FBD0100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3147" y="2417274"/>
              <a:ext cx="812706" cy="606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851AB2EC-2387-4255-09C8-2AB15E8AE57A}"/>
              </a:ext>
            </a:extLst>
          </p:cNvPr>
          <p:cNvGrpSpPr/>
          <p:nvPr/>
        </p:nvGrpSpPr>
        <p:grpSpPr>
          <a:xfrm>
            <a:off x="1507219" y="2008597"/>
            <a:ext cx="1703979" cy="893846"/>
            <a:chOff x="5498577" y="4740164"/>
            <a:chExt cx="1703979" cy="893846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AD0733E2-36BB-0CCE-58F5-29E3A8D105F5}"/>
                </a:ext>
              </a:extLst>
            </p:cNvPr>
            <p:cNvSpPr/>
            <p:nvPr/>
          </p:nvSpPr>
          <p:spPr bwMode="auto">
            <a:xfrm>
              <a:off x="5498577" y="4769914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 err="1">
                  <a:latin typeface="SB Sans Display Light"/>
                </a:rPr>
                <a:t>MinIO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11" name="Picture 2" descr="Picture background">
              <a:extLst>
                <a:ext uri="{FF2B5EF4-FFF2-40B4-BE49-F238E27FC236}">
                  <a16:creationId xmlns:a16="http://schemas.microsoft.com/office/drawing/2014/main" id="{0D64C74F-5723-D880-B6D8-516936B97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4997" y="4740164"/>
              <a:ext cx="598380" cy="893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0283C892-1936-A2E5-4AB4-656C60D31AF8}"/>
              </a:ext>
            </a:extLst>
          </p:cNvPr>
          <p:cNvGrpSpPr/>
          <p:nvPr/>
        </p:nvGrpSpPr>
        <p:grpSpPr>
          <a:xfrm>
            <a:off x="4270377" y="1460691"/>
            <a:ext cx="2624847" cy="864096"/>
            <a:chOff x="5062312" y="2308196"/>
            <a:chExt cx="2624847" cy="864096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292C2F17-3F8F-7509-3FDE-A4A34A0ABF28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SB Sans Display Light"/>
                </a:rPr>
                <a:t>Test-Runner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14" name="Picture 10">
              <a:extLst>
                <a:ext uri="{FF2B5EF4-FFF2-40B4-BE49-F238E27FC236}">
                  <a16:creationId xmlns:a16="http://schemas.microsoft.com/office/drawing/2014/main" id="{740DB948-64F1-60E0-501D-9B361D347B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7051222-D85B-F6CF-0651-2F17A8CC4561}"/>
              </a:ext>
            </a:extLst>
          </p:cNvPr>
          <p:cNvGrpSpPr/>
          <p:nvPr/>
        </p:nvGrpSpPr>
        <p:grpSpPr>
          <a:xfrm>
            <a:off x="7835773" y="1451258"/>
            <a:ext cx="2692282" cy="864096"/>
            <a:chOff x="8338910" y="1543878"/>
            <a:chExt cx="2692282" cy="864096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05D21A4B-9056-35C6-E3DF-0B6DA8845558}"/>
                </a:ext>
              </a:extLst>
            </p:cNvPr>
            <p:cNvSpPr/>
            <p:nvPr/>
          </p:nvSpPr>
          <p:spPr bwMode="auto">
            <a:xfrm>
              <a:off x="8338910" y="1543878"/>
              <a:ext cx="269228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SB Sans Display Light"/>
                </a:rPr>
                <a:t>Docker Engine</a:t>
              </a:r>
              <a:endParaRPr lang="ru-RU" sz="2600" dirty="0">
                <a:latin typeface="SB Sans Display Light"/>
              </a:endParaRPr>
            </a:p>
          </p:txBody>
        </p:sp>
        <p:pic>
          <p:nvPicPr>
            <p:cNvPr id="17" name="Picture 8">
              <a:extLst>
                <a:ext uri="{FF2B5EF4-FFF2-40B4-BE49-F238E27FC236}">
                  <a16:creationId xmlns:a16="http://schemas.microsoft.com/office/drawing/2014/main" id="{D6DC511B-078F-5587-8161-646C5EB1B2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5370" y="1739027"/>
              <a:ext cx="472419" cy="47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D81ECFF-A4FB-FCDE-B124-66C7638C45A0}"/>
              </a:ext>
            </a:extLst>
          </p:cNvPr>
          <p:cNvCxnSpPr>
            <a:cxnSpLocks/>
            <a:stCxn id="13" idx="1"/>
            <a:endCxn id="7" idx="3"/>
          </p:cNvCxnSpPr>
          <p:nvPr/>
        </p:nvCxnSpPr>
        <p:spPr>
          <a:xfrm flipH="1" flipV="1">
            <a:off x="3269127" y="1369278"/>
            <a:ext cx="1001250" cy="52346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AEDB66DC-A071-3FC7-B2AD-75DF0765588F}"/>
              </a:ext>
            </a:extLst>
          </p:cNvPr>
          <p:cNvCxnSpPr>
            <a:cxnSpLocks/>
            <a:stCxn id="16" idx="1"/>
            <a:endCxn id="13" idx="3"/>
          </p:cNvCxnSpPr>
          <p:nvPr/>
        </p:nvCxnSpPr>
        <p:spPr>
          <a:xfrm flipH="1">
            <a:off x="6895224" y="1883306"/>
            <a:ext cx="940549" cy="943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9348A3BB-DE5B-E73B-63AA-A3682AFBB8EA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 flipV="1">
            <a:off x="3211198" y="1892739"/>
            <a:ext cx="1059179" cy="57765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2AFE81-0F73-D7EB-3FDB-E582D078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835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CF7596-47A9-B435-BE9B-5CB582B41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" y="59635"/>
            <a:ext cx="10515600" cy="756410"/>
          </a:xfrm>
        </p:spPr>
        <p:txBody>
          <a:bodyPr/>
          <a:lstStyle/>
          <a:p>
            <a:r>
              <a:rPr lang="ru-RU" dirty="0"/>
              <a:t>Для </a:t>
            </a:r>
            <a:r>
              <a:rPr lang="ru-RU" dirty="0" err="1"/>
              <a:t>плагинизации</a:t>
            </a:r>
            <a:r>
              <a:rPr lang="ru-RU" dirty="0"/>
              <a:t> использовать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BE963D-635E-1FEF-EFB7-7D0604711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4" y="948530"/>
            <a:ext cx="11671853" cy="5472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Загрузка языковых</a:t>
            </a:r>
            <a:r>
              <a:rPr lang="en-US" dirty="0"/>
              <a:t> JS </a:t>
            </a:r>
            <a:r>
              <a:rPr lang="ru-RU" dirty="0"/>
              <a:t>модулей через динамический импорт</a:t>
            </a:r>
          </a:p>
          <a:p>
            <a:pPr marL="514350" indent="-514350">
              <a:buAutoNum type="arabicPeriod"/>
            </a:pPr>
            <a:r>
              <a:rPr lang="ru-RU" dirty="0"/>
              <a:t>Собираем</a:t>
            </a:r>
            <a:r>
              <a:rPr lang="en-US" dirty="0"/>
              <a:t> JS </a:t>
            </a:r>
            <a:r>
              <a:rPr lang="ru-RU" dirty="0"/>
              <a:t>модуль</a:t>
            </a:r>
          </a:p>
          <a:p>
            <a:pPr marL="514350" indent="-514350">
              <a:buAutoNum type="arabicPeriod"/>
            </a:pPr>
            <a:r>
              <a:rPr lang="ru-RU" dirty="0"/>
              <a:t>Располагаем в папке</a:t>
            </a:r>
            <a:r>
              <a:rPr lang="en-US" dirty="0"/>
              <a:t> </a:t>
            </a:r>
            <a:r>
              <a:rPr lang="ru-RU" dirty="0"/>
              <a:t>сервера доступной из браузера </a:t>
            </a:r>
            <a:br>
              <a:rPr lang="ru-RU" dirty="0"/>
            </a:br>
            <a:r>
              <a:rPr lang="ru-RU" dirty="0"/>
              <a:t>(например, </a:t>
            </a:r>
            <a:r>
              <a:rPr lang="en-US" dirty="0"/>
              <a:t>/plugins)</a:t>
            </a:r>
            <a:endParaRPr lang="ru-RU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 </a:t>
            </a:r>
            <a:r>
              <a:rPr lang="en-US" dirty="0">
                <a:solidFill>
                  <a:srgbClr val="0033B3"/>
                </a:solidFill>
                <a:latin typeface="Inter"/>
              </a:rPr>
              <a:t>const </a:t>
            </a:r>
            <a:r>
              <a:rPr lang="en-US" dirty="0">
                <a:solidFill>
                  <a:srgbClr val="830091"/>
                </a:solidFill>
                <a:latin typeface="Inter"/>
              </a:rPr>
              <a:t>module </a:t>
            </a:r>
            <a:r>
              <a:rPr lang="en-US" dirty="0">
                <a:solidFill>
                  <a:srgbClr val="080808"/>
                </a:solidFill>
                <a:latin typeface="Inter"/>
              </a:rPr>
              <a:t>= </a:t>
            </a:r>
            <a:r>
              <a:rPr lang="en-US" dirty="0">
                <a:solidFill>
                  <a:srgbClr val="0033B3"/>
                </a:solidFill>
                <a:latin typeface="Inter"/>
              </a:rPr>
              <a:t>await import</a:t>
            </a:r>
            <a:r>
              <a:rPr lang="en-US" dirty="0">
                <a:solidFill>
                  <a:srgbClr val="080808"/>
                </a:solidFill>
                <a:latin typeface="Inter"/>
              </a:rPr>
              <a:t>(“/plugins/java.js”)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Загрузка языковых </a:t>
            </a:r>
            <a:r>
              <a:rPr lang="en-US" dirty="0"/>
              <a:t>Java</a:t>
            </a:r>
            <a:r>
              <a:rPr lang="ru-RU" dirty="0"/>
              <a:t> сервисов через </a:t>
            </a:r>
            <a:r>
              <a:rPr lang="en-US" dirty="0"/>
              <a:t>Service Provider Interface</a:t>
            </a:r>
            <a:endParaRPr lang="ru-RU" dirty="0"/>
          </a:p>
          <a:p>
            <a:pPr marL="514350" indent="-514350">
              <a:buAutoNum type="arabicPeriod"/>
            </a:pPr>
            <a:r>
              <a:rPr lang="ru-RU" dirty="0"/>
              <a:t>Реализовать интерфейсы плагина</a:t>
            </a:r>
          </a:p>
          <a:p>
            <a:pPr marL="514350" indent="-514350">
              <a:buAutoNum type="arabicPeriod"/>
            </a:pPr>
            <a:r>
              <a:rPr lang="ru-RU" dirty="0"/>
              <a:t>В </a:t>
            </a:r>
            <a:r>
              <a:rPr lang="en-US" dirty="0"/>
              <a:t>META-INF/services</a:t>
            </a:r>
            <a:r>
              <a:rPr lang="ru-RU" dirty="0"/>
              <a:t> указать имена реализаций</a:t>
            </a:r>
          </a:p>
          <a:p>
            <a:pPr marL="514350" indent="-514350">
              <a:buAutoNum type="arabicPeriod"/>
            </a:pPr>
            <a:r>
              <a:rPr lang="ru-RU" dirty="0"/>
              <a:t>Расположить </a:t>
            </a:r>
            <a:r>
              <a:rPr lang="en-US" dirty="0"/>
              <a:t>.jar </a:t>
            </a:r>
            <a:r>
              <a:rPr lang="ru-RU" dirty="0"/>
              <a:t>в </a:t>
            </a:r>
            <a:r>
              <a:rPr lang="en-US" dirty="0" err="1"/>
              <a:t>classpath</a:t>
            </a:r>
            <a:endParaRPr lang="ru-RU" dirty="0"/>
          </a:p>
          <a:p>
            <a:pPr marL="514350" indent="-514350">
              <a:buAutoNum type="arabicPeriod"/>
            </a:pPr>
            <a:r>
              <a:rPr lang="en-US" dirty="0" err="1">
                <a:solidFill>
                  <a:srgbClr val="080808"/>
                </a:solidFill>
                <a:latin typeface="Inter"/>
              </a:rPr>
              <a:t>ServiceLoader.</a:t>
            </a:r>
            <a:r>
              <a:rPr lang="en-US" dirty="0" err="1">
                <a:solidFill>
                  <a:srgbClr val="00627A"/>
                </a:solidFill>
                <a:latin typeface="Inter"/>
              </a:rPr>
              <a:t>load</a:t>
            </a:r>
            <a:r>
              <a:rPr lang="en-US" dirty="0">
                <a:solidFill>
                  <a:srgbClr val="080808"/>
                </a:solidFill>
                <a:latin typeface="Inter"/>
              </a:rPr>
              <a:t>(</a:t>
            </a:r>
            <a:r>
              <a:rPr lang="en-US" dirty="0" err="1">
                <a:solidFill>
                  <a:srgbClr val="080808"/>
                </a:solidFill>
                <a:latin typeface="Inter"/>
              </a:rPr>
              <a:t>LanguageInfo.</a:t>
            </a:r>
            <a:r>
              <a:rPr lang="en-US" dirty="0" err="1">
                <a:solidFill>
                  <a:srgbClr val="0033B3"/>
                </a:solidFill>
                <a:latin typeface="Inter"/>
              </a:rPr>
              <a:t>class</a:t>
            </a:r>
            <a:r>
              <a:rPr lang="en-US" dirty="0">
                <a:solidFill>
                  <a:srgbClr val="080808"/>
                </a:solidFill>
                <a:latin typeface="Inter"/>
              </a:rPr>
              <a:t>)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D4AB4F-2323-0C8B-42D4-B17C4376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276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A6DE5-A24E-EA59-3C2D-FFCF3931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26" y="19878"/>
            <a:ext cx="10515600" cy="802792"/>
          </a:xfrm>
        </p:spPr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64E13C-53D7-E670-88CD-EEB8505AD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939" y="1371599"/>
            <a:ext cx="10986051" cy="5149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Выводы</a:t>
            </a:r>
          </a:p>
          <a:p>
            <a:r>
              <a:rPr lang="ru-RU" dirty="0"/>
              <a:t>Расширяемость ПО остаётся актуальной задачей разработки</a:t>
            </a:r>
          </a:p>
          <a:p>
            <a:r>
              <a:rPr lang="ru-RU" dirty="0"/>
              <a:t>Показана </a:t>
            </a:r>
            <a:r>
              <a:rPr lang="ru-RU" dirty="0" err="1"/>
              <a:t>плагинная</a:t>
            </a:r>
            <a:r>
              <a:rPr lang="ru-RU" dirty="0"/>
              <a:t> архитектура, обеспечивающая гибкое добавление новых языков без модификации ядра платформы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Дальнейшие цели</a:t>
            </a:r>
          </a:p>
          <a:p>
            <a:r>
              <a:rPr lang="ru-RU" dirty="0"/>
              <a:t>Реализую </a:t>
            </a:r>
            <a:r>
              <a:rPr lang="ru-RU" dirty="0" err="1"/>
              <a:t>плагинную</a:t>
            </a:r>
            <a:r>
              <a:rPr lang="ru-RU" dirty="0"/>
              <a:t> архитектуру в коде</a:t>
            </a:r>
          </a:p>
          <a:p>
            <a:r>
              <a:rPr lang="ru-RU" dirty="0"/>
              <a:t>Добавляю языковые плагины с доработкой контракта при необходимости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9AB4B0-97A0-4A3F-B3CE-87F3983B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8073-A5DC-4C6E-BBA3-3251C6D34E0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5896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358</Words>
  <Application>Microsoft Office PowerPoint</Application>
  <PresentationFormat>Широкоэкранный</PresentationFormat>
  <Paragraphs>92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Inter</vt:lpstr>
      <vt:lpstr>SB Sans Display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Компоненты платформы</vt:lpstr>
      <vt:lpstr>Точки кастомизации</vt:lpstr>
      <vt:lpstr>Взаимодействие фронт-бэк</vt:lpstr>
      <vt:lpstr>Плагинизация сервиса Test-Runner</vt:lpstr>
      <vt:lpstr>Для плагинизации использовать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Fine Danil</dc:creator>
  <cp:lastModifiedBy>Fine Danil</cp:lastModifiedBy>
  <cp:revision>69</cp:revision>
  <dcterms:created xsi:type="dcterms:W3CDTF">2026-03-07T10:16:57Z</dcterms:created>
  <dcterms:modified xsi:type="dcterms:W3CDTF">2026-03-09T22:28:54Z</dcterms:modified>
</cp:coreProperties>
</file>