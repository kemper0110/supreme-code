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74" r:id="rId2"/>
    <p:sldId id="373" r:id="rId3"/>
    <p:sldId id="399" r:id="rId4"/>
    <p:sldId id="401" r:id="rId5"/>
    <p:sldId id="400" r:id="rId6"/>
    <p:sldId id="402" r:id="rId7"/>
    <p:sldId id="403" r:id="rId8"/>
    <p:sldId id="404" r:id="rId9"/>
    <p:sldId id="405" r:id="rId10"/>
    <p:sldId id="37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88B5DD7-6E43-4A56-9A0B-DF5E7FC13B11}">
          <p14:sldIdLst>
            <p14:sldId id="374"/>
            <p14:sldId id="373"/>
            <p14:sldId id="399"/>
            <p14:sldId id="401"/>
            <p14:sldId id="400"/>
            <p14:sldId id="402"/>
            <p14:sldId id="403"/>
            <p14:sldId id="404"/>
            <p14:sldId id="405"/>
            <p14:sldId id="37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il" initials="D" lastIdx="2" clrIdx="0">
    <p:extLst>
      <p:ext uri="{19B8F6BF-5375-455C-9EA6-DF929625EA0E}">
        <p15:presenceInfo xmlns:p15="http://schemas.microsoft.com/office/powerpoint/2012/main" userId="Dani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6" autoAdjust="0"/>
    <p:restoredTop sz="86667" autoAdjust="0"/>
  </p:normalViewPr>
  <p:slideViewPr>
    <p:cSldViewPr snapToGrid="0">
      <p:cViewPr varScale="1">
        <p:scale>
          <a:sx n="105" d="100"/>
          <a:sy n="105" d="100"/>
        </p:scale>
        <p:origin x="288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576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09F48DF-1389-4511-AFD8-FC38813C31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D567626-0253-4FCD-BC4D-8011483EA7B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CC1132-D1AA-4F39-8FD5-E84BC063B191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11D7D8-CF8D-4DC2-8081-4D914ADB28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9906DFD-4B0C-4593-BCF5-BCBB2B78D9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220F22-3918-4ECB-9EA1-725EC2BF8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344632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4EEE04-9F41-42DA-8170-F9369925EE22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327A9B-D9D0-4F5B-B56F-D52EA62B97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30687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AC493F-BC6E-442F-8DFA-553E82699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27A9B-D9D0-4F5B-B56F-D52EA62B979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203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4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E1BEB49-40ED-4156-928D-AC510C4987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27A9B-D9D0-4F5B-B56F-D52EA62B979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5139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НЕ ЦЕНТРИРОВАТЬ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47BB018-4510-4A92-A6CC-D886E80E9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27A9B-D9D0-4F5B-B56F-D52EA62B979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7239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http://991534A3C7251C9405CF94537ACCF30B.dms.sberbank.ru/991534A3C7251C9405CF94537ACCF30B-D440A21A956D124775E2C7E5463C2229-C73549E33849F65743C4A3DECCF72617/1.png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93545-8CFA-4E3B-9416-427DD33B9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ED956AF-7D7F-4DD0-9EF1-FFEA1D8CBD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36C968-2BE1-4A25-803B-101EE206F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DE1205-8A02-4D29-BA5B-C6567F24D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9F2497-6450-4E4B-B036-802F10FF7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35B0F-8C58-4DB9-9B2E-BF312EBDA3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076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62A5CA-8F95-4D6D-90BF-1BD18F755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59BD3D-AC16-4404-865A-A20E99C52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6C1AC2-FF41-4295-871B-626A1C470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CA46DC-8D81-4027-B886-BF5D033F1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344180-A400-42E1-95D1-675EA29A0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35B0F-8C58-4DB9-9B2E-BF312EBDA3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154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A114DF-CD2D-4EDB-9C5D-BD179CBF4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87DFA2-6ED6-4DC3-B772-31D3147D0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E14689-2F37-4DAF-BF23-B472CE691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EE34A0-FF27-4784-AFFA-85FB7A4B1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080234-8CA4-42CC-B518-00281CC4D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35B0F-8C58-4DB9-9B2E-BF312EBDA3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557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99AC4E-B14A-4700-B05D-570BD83C8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DA8A80-C36C-465A-A6C0-79D1202CC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A6EDA64-5D50-40F8-937B-82464337F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F63554-7299-40DD-9ECC-350F335C9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0B1AB9-ACAB-41BB-8916-FFC6A7A4C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3EED15-3729-4790-BDC6-90DC822E3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35B0F-8C58-4DB9-9B2E-BF312EBDA3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247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FBB4D9-4818-4C9E-960F-D54FD40AB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E9608D-906D-485A-A61B-9C9163C47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C0F96EE-40B1-42B2-8BCD-923BC5FE6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F834FE7-F16A-4F84-ADA1-4DB76E400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601D211-6CBF-4EC1-963C-759D5BC75A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6EEA1AD-00C2-460F-A0E7-620D388A6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5136CB1-6EB2-4431-AA7E-6171C05E7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2517787-9052-4465-A593-E9C96F543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35B0F-8C58-4DB9-9B2E-BF312EBDA3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070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65DC99-4C67-4400-BDB5-D624FB3E6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1C71F16-A6BB-48A3-9E3D-908724CE9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DAE017D-96D8-4F5A-9F87-28F17F0E6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8ABC37D-C5B1-4CEF-A168-03C9FF875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35B0F-8C58-4DB9-9B2E-BF312EBDA3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121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F881595-4602-40B1-9E3E-1EE0570A2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23BA1C0-F41F-427B-811B-1CBCBEE9B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64D3A7-C4AC-4D71-9E12-8B6EB62BA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35B0F-8C58-4DB9-9B2E-BF312EBDA3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1311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DED8AF-F458-4B5C-B812-AFB352082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95009C-A09C-49CE-AB56-7D35548A1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ACF023-765B-4F7A-96FE-CA1B44D80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A8A6D3-51AE-43F5-968B-B60E6ED5B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EADF84C-348B-40AA-8175-ABC69B174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EE0EBC-7DC8-42BD-B144-4FDA11C6E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35B0F-8C58-4DB9-9B2E-BF312EBDA3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579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7385A-0FF9-4325-A141-ED0006867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200AF14-84D7-41E6-B802-5306B78231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9F9526-CD67-48F9-9593-94C563B52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759F17-B413-4FDF-B0DB-5770846C3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352FE4F-A962-42A2-9152-CF0597F58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A19724-15EB-4DF1-A873-E233C6F8F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35B0F-8C58-4DB9-9B2E-BF312EBDA3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1394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32E574-B822-4A0A-9FE1-EB03440DF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99E3920-EED5-41D2-8AE2-8EEEC9B15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71ADE7-B4E3-4C17-89BD-38AF6CE2B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61AE69-BE83-409D-805A-CE6C36074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79D660-001E-4085-9F6D-93029ABE4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35B0F-8C58-4DB9-9B2E-BF312EBDA3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1576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5B9D242-8EBC-412F-9C2B-3A09E3D4B2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280CF06-B5DC-4104-BA04-0653291B9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34C877-8460-4DAA-B2C5-F2D2F8A86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057AD1-30E2-42BD-82F1-3818973B7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675A0A-9F62-4DA2-BA38-08E12840D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35B0F-8C58-4DB9-9B2E-BF312EBDA3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3494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3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 rot="5400000">
            <a:off x="5644444" y="310447"/>
            <a:ext cx="6858001" cy="6237110"/>
          </a:xfrm>
          <a:prstGeom prst="rect">
            <a:avLst/>
          </a:prstGeom>
        </p:spPr>
      </p:pic>
      <p:sp>
        <p:nvSpPr>
          <p:cNvPr id="5" name="Номер слайда 5"/>
          <p:cNvSpPr>
            <a:spLocks noAdjustHandles="1"/>
          </p:cNvSpPr>
          <p:nvPr userDrawn="1"/>
        </p:nvSpPr>
        <p:spPr bwMode="auto">
          <a:xfrm>
            <a:off x="921036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>
              <a:defRPr sz="1200" b="0" i="0">
                <a:solidFill>
                  <a:schemeClr val="tx1">
                    <a:tint val="75000"/>
                  </a:schemeClr>
                </a:solidFill>
                <a:latin typeface="SB Sans Display Regular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5FE8ADF-25A3-4B39-A1EB-43B990C73963}" type="slidenum">
              <a:rPr lang="ru-RU" b="0" i="0">
                <a:solidFill>
                  <a:schemeClr val="bg1"/>
                </a:solidFill>
                <a:latin typeface="SB Sans Display Light"/>
                <a:cs typeface="SB Sans Display Light"/>
              </a:rPr>
              <a:t>‹#›</a:t>
            </a:fld>
            <a:endParaRPr lang="ru-RU" b="0" i="0">
              <a:solidFill>
                <a:schemeClr val="bg1"/>
              </a:solidFill>
              <a:latin typeface="SB Sans Display Light"/>
              <a:cs typeface="SB Sans Display Light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 bwMode="auto">
          <a:xfrm>
            <a:off x="625703" y="365291"/>
            <a:ext cx="10728324" cy="1325563"/>
          </a:xfrm>
          <a:prstGeom prst="rect">
            <a:avLst/>
          </a:prstGeom>
        </p:spPr>
        <p:txBody>
          <a:bodyPr/>
          <a:lstStyle>
            <a:lvl1pPr algn="l">
              <a:defRPr sz="4400" b="0" i="0">
                <a:solidFill>
                  <a:schemeClr val="tx1"/>
                </a:solidFill>
                <a:latin typeface="SB Sans Display Light"/>
                <a:cs typeface="SB Sans Display Ligh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ru-RU"/>
          </a:p>
        </p:txBody>
      </p:sp>
      <p:pic>
        <p:nvPicPr>
          <p:cNvPr id="16" name="Рисунок 15" descr="http://991534A3C7251C9405CF94537ACCF30B.dms.sberbank.ru/991534A3C7251C9405CF94537ACCF30B-D440A21A956D124775E2C7E5463C2229-C73549E33849F65743C4A3DECCF72617/1.png"/>
          <p:cNvPicPr>
            <a:picLocks/>
          </p:cNvPicPr>
          <p:nvPr userDrawn="1"/>
        </p:nvPicPr>
        <p:blipFill>
          <a:blip r:link="rId3"/>
          <a:stretch>
            <a:fillRect/>
          </a:stretch>
        </p:blipFill>
        <p:spPr>
          <a:xfrm>
            <a:off x="0" y="0"/>
            <a:ext cx="1588" cy="1588"/>
          </a:xfrm>
          <a:prstGeom prst="rect">
            <a:avLst/>
          </a:prstGeom>
        </p:spPr>
      </p:pic>
      <p:pic>
        <p:nvPicPr>
          <p:cNvPr id="17" name="Рисунок 16" descr="http://991534A3C7251C9405CF94537ACCF30B.dms.sberbank.ru/991534A3C7251C9405CF94537ACCF30B-D440A21A956D124775E2C7E5463C2229-C73549E33849F65743C4A3DECCF72617/1.png"/>
          <p:cNvPicPr>
            <a:picLocks/>
          </p:cNvPicPr>
          <p:nvPr userDrawn="1"/>
        </p:nvPicPr>
        <p:blipFill>
          <a:blip r:link="rId3"/>
          <a:stretch>
            <a:fillRect/>
          </a:stretch>
        </p:blipFill>
        <p:spPr>
          <a:xfrm>
            <a:off x="0" y="0"/>
            <a:ext cx="1588" cy="1588"/>
          </a:xfrm>
          <a:prstGeom prst="rect">
            <a:avLst/>
          </a:prstGeom>
        </p:spPr>
      </p:pic>
      <p:pic>
        <p:nvPicPr>
          <p:cNvPr id="18" name="Рисунок 17" descr="http://991534A3C7251C9405CF94537ACCF30B.dms.sberbank.ru/991534A3C7251C9405CF94537ACCF30B-D440A21A956D124775E2C7E5463C2229-C73549E33849F65743C4A3DECCF72617/1.png"/>
          <p:cNvPicPr>
            <a:picLocks/>
          </p:cNvPicPr>
          <p:nvPr userDrawn="1"/>
        </p:nvPicPr>
        <p:blipFill>
          <a:blip r:link="rId3"/>
          <a:stretch>
            <a:fillRect/>
          </a:stretch>
        </p:blipFill>
        <p:spPr>
          <a:xfrm>
            <a:off x="0" y="0"/>
            <a:ext cx="1588" cy="1588"/>
          </a:xfrm>
          <a:prstGeom prst="rect">
            <a:avLst/>
          </a:prstGeom>
        </p:spPr>
      </p:pic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96F8527E-EA26-41EF-A35C-67B6F83A3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55324"/>
            <a:ext cx="2743200" cy="619933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fld id="{47735B0F-8C58-4DB9-9B2E-BF312EBDA35B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661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26BFEE-FDBE-44B7-82FF-2D875F430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439B6D-5868-4234-9367-12220F76A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2E113F-37A6-44C1-B664-9F87D9390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171A54-B283-43E9-A34D-114E7A1A9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14D3F9-1565-406C-AAC0-6BBB3EE29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35B0F-8C58-4DB9-9B2E-BF312EBDA3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259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" name="object 9">
            <a:extLst>
              <a:ext uri="{FF2B5EF4-FFF2-40B4-BE49-F238E27FC236}">
                <a16:creationId xmlns:a16="http://schemas.microsoft.com/office/drawing/2014/main" id="{F7083B8E-954C-429C-98E3-53891879E7B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47948" y="153056"/>
            <a:ext cx="784860" cy="8092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1AB5B3-3252-44F4-8749-0549C9B37AEC}"/>
              </a:ext>
            </a:extLst>
          </p:cNvPr>
          <p:cNvSpPr txBox="1"/>
          <p:nvPr/>
        </p:nvSpPr>
        <p:spPr>
          <a:xfrm>
            <a:off x="2746839" y="3165274"/>
            <a:ext cx="69870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Проектирование и разработка интерактивной информационной системы обучения и проверки навыков программирования</a:t>
            </a:r>
            <a:endParaRPr lang="ru-KZ" sz="2400" dirty="0">
              <a:latin typeface="SB Sans Display Light"/>
              <a:cs typeface="Baloo 2" panose="03080502040302020200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0635AE-04B7-4510-BE57-45E41A5746AD}"/>
              </a:ext>
            </a:extLst>
          </p:cNvPr>
          <p:cNvSpPr txBox="1"/>
          <p:nvPr/>
        </p:nvSpPr>
        <p:spPr>
          <a:xfrm>
            <a:off x="292100" y="5249369"/>
            <a:ext cx="36837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SB Sans Display Light"/>
              </a:rPr>
              <a:t>П</a:t>
            </a:r>
            <a:r>
              <a:rPr lang="ru-RU" dirty="0" err="1">
                <a:latin typeface="SB Sans Display Light"/>
              </a:rPr>
              <a:t>одготовил</a:t>
            </a:r>
            <a:r>
              <a:rPr lang="ru-RU" dirty="0">
                <a:latin typeface="SB Sans Display Light"/>
              </a:rPr>
              <a:t>: студент группы МПР</a:t>
            </a:r>
            <a:r>
              <a:rPr lang="en-US" dirty="0">
                <a:latin typeface="SB Sans Display Light"/>
              </a:rPr>
              <a:t>2</a:t>
            </a:r>
            <a:r>
              <a:rPr lang="ru-RU" dirty="0">
                <a:latin typeface="SB Sans Display Light"/>
              </a:rPr>
              <a:t>1</a:t>
            </a:r>
          </a:p>
          <a:p>
            <a:r>
              <a:rPr lang="ru-RU" dirty="0" err="1">
                <a:latin typeface="SB Sans Display Light"/>
              </a:rPr>
              <a:t>Голосуев</a:t>
            </a:r>
            <a:r>
              <a:rPr lang="ru-RU" dirty="0">
                <a:latin typeface="SB Sans Display Light"/>
              </a:rPr>
              <a:t> Данил Витальевич</a:t>
            </a:r>
            <a:endParaRPr lang="ru-KZ" dirty="0">
              <a:latin typeface="SB Sans Display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DB2D7F-303C-4CDA-9C13-ACBCE9AF2EF9}"/>
              </a:ext>
            </a:extLst>
          </p:cNvPr>
          <p:cNvSpPr txBox="1"/>
          <p:nvPr/>
        </p:nvSpPr>
        <p:spPr>
          <a:xfrm>
            <a:off x="292100" y="5943734"/>
            <a:ext cx="29668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SB Sans Display Light"/>
              </a:rPr>
              <a:t>Научный р</a:t>
            </a:r>
            <a:r>
              <a:rPr lang="ru-KZ" dirty="0">
                <a:latin typeface="SB Sans Display Light"/>
              </a:rPr>
              <a:t>уководитель</a:t>
            </a:r>
            <a:r>
              <a:rPr lang="en-US" dirty="0">
                <a:latin typeface="SB Sans Display Light"/>
              </a:rPr>
              <a:t>:</a:t>
            </a:r>
          </a:p>
          <a:p>
            <a:r>
              <a:rPr lang="ru-RU" dirty="0">
                <a:latin typeface="SB Sans Display Light"/>
              </a:rPr>
              <a:t>Долгов Василий Валерьевич</a:t>
            </a:r>
            <a:endParaRPr lang="ru-KZ" dirty="0">
              <a:latin typeface="SB Sans Display Light"/>
            </a:endParaRPr>
          </a:p>
        </p:txBody>
      </p:sp>
      <p:pic>
        <p:nvPicPr>
          <p:cNvPr id="13" name="Picture 10">
            <a:extLst>
              <a:ext uri="{FF2B5EF4-FFF2-40B4-BE49-F238E27FC236}">
                <a16:creationId xmlns:a16="http://schemas.microsoft.com/office/drawing/2014/main" id="{3B2B2DC8-F2AB-4103-BDF4-06E7364B95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40"/>
          <a:stretch/>
        </p:blipFill>
        <p:spPr bwMode="auto">
          <a:xfrm>
            <a:off x="1650230" y="962300"/>
            <a:ext cx="9180298" cy="2130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EB3B24C-18E8-4778-BC05-0BFC6AC68970}"/>
              </a:ext>
            </a:extLst>
          </p:cNvPr>
          <p:cNvSpPr txBox="1"/>
          <p:nvPr/>
        </p:nvSpPr>
        <p:spPr>
          <a:xfrm>
            <a:off x="9639902" y="6000310"/>
            <a:ext cx="23812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 err="1">
                <a:latin typeface="SB Sans Display Light"/>
              </a:rPr>
              <a:t>Ростов</a:t>
            </a:r>
            <a:r>
              <a:rPr lang="ru-RU" sz="2000" dirty="0">
                <a:latin typeface="SB Sans Display Light"/>
              </a:rPr>
              <a:t>-на-Дону</a:t>
            </a:r>
          </a:p>
          <a:p>
            <a:pPr algn="ctr"/>
            <a:r>
              <a:rPr lang="ru-RU" sz="2000" dirty="0">
                <a:latin typeface="SB Sans Display Light"/>
              </a:rPr>
              <a:t>2025</a:t>
            </a:r>
            <a:endParaRPr lang="ru-KZ" sz="2000" dirty="0">
              <a:latin typeface="SB Sans Display Light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DC9D6CF-ED44-4A26-A139-E3CF127E6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35B0F-8C58-4DB9-9B2E-BF312EBDA35B}" type="slidenum">
              <a:rPr lang="ru-RU" smtClean="0"/>
              <a:pPr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5834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9DD54D87-807A-4B50-8942-BA7D78A94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6855" y="7987269"/>
            <a:ext cx="77584" cy="77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B826F6-3EA2-4A6E-BBDD-8DB63D98A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0808" y="210311"/>
            <a:ext cx="8770384" cy="6437377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105D721-944A-4597-A6F1-2D61AFA83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35B0F-8C58-4DB9-9B2E-BF312EBDA35B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5137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444C4-D867-7B15-2C14-3E1F9E105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60DA82-A4A5-755B-31A6-975518D0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" y="276225"/>
            <a:ext cx="8267472" cy="619933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Задание от руководителя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E00EDA1-042B-3B04-5EC0-BCF70E96F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35B0F-8C58-4DB9-9B2E-BF312EBDA35B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A2F4A6-FB9B-B82C-23C4-A238177C0690}"/>
              </a:ext>
            </a:extLst>
          </p:cNvPr>
          <p:cNvSpPr txBox="1"/>
          <p:nvPr/>
        </p:nvSpPr>
        <p:spPr bwMode="auto">
          <a:xfrm>
            <a:off x="571500" y="1612523"/>
            <a:ext cx="108108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600" strike="sngStrike" dirty="0">
                <a:latin typeface="SB Sans Display Light"/>
              </a:rPr>
              <a:t>Изучить существующие аналоги – способы проверки решений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600" strike="sngStrike" dirty="0">
                <a:latin typeface="SB Sans Display Light"/>
              </a:rPr>
              <a:t>Изучить тему безопасного выполнения </a:t>
            </a:r>
            <a:r>
              <a:rPr lang="ru-RU" sz="2600" strike="sngStrike" dirty="0" err="1">
                <a:latin typeface="SB Sans Display Light"/>
              </a:rPr>
              <a:t>недоверенного</a:t>
            </a:r>
            <a:r>
              <a:rPr lang="ru-RU" sz="2600" strike="sngStrike" dirty="0">
                <a:latin typeface="SB Sans Display Light"/>
              </a:rPr>
              <a:t> кода</a:t>
            </a:r>
            <a:endParaRPr lang="ru-RU" sz="2600" dirty="0">
              <a:latin typeface="SB Sans Display Ligh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600" strike="sngStrike" dirty="0">
                <a:latin typeface="SB Sans Display Light"/>
              </a:rPr>
              <a:t>Спроектировать бизнес-слой программного средства, включающий: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600" strike="sngStrike" dirty="0">
                <a:latin typeface="SB Sans Display Light"/>
              </a:rPr>
              <a:t>Анализ предметной области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600" strike="sngStrike" dirty="0">
                <a:latin typeface="SB Sans Display Light"/>
              </a:rPr>
              <a:t>Модели бизнес-объектов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600" strike="sngStrike" dirty="0">
                <a:latin typeface="SB Sans Display Light"/>
              </a:rPr>
              <a:t>Разработать и реализовать слой данных, обеспечивающий хранение, поиск, чтение моделей предметной области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600" strike="sngStrike" dirty="0">
                <a:latin typeface="SB Sans Display Light"/>
              </a:rPr>
              <a:t>Спроектировать макеты презентационного слоя</a:t>
            </a:r>
            <a:endParaRPr lang="en-US" sz="2600" strike="sngStrike" dirty="0">
              <a:latin typeface="SB Sans Display Ligh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600" dirty="0">
                <a:latin typeface="SB Sans Display Light"/>
              </a:rPr>
              <a:t>Спроектировать </a:t>
            </a:r>
            <a:r>
              <a:rPr lang="ru-RU" sz="2600" dirty="0" err="1">
                <a:latin typeface="SB Sans Display Light"/>
              </a:rPr>
              <a:t>плагинную</a:t>
            </a:r>
            <a:r>
              <a:rPr lang="ru-RU" sz="2600" dirty="0">
                <a:latin typeface="SB Sans Display Light"/>
              </a:rPr>
              <a:t> архитектуру для подключения языков</a:t>
            </a:r>
            <a:endParaRPr lang="en-US" sz="2600" dirty="0">
              <a:latin typeface="SB Sans Display Ligh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600" dirty="0">
                <a:latin typeface="SB Sans Display Light"/>
              </a:rPr>
              <a:t>Спроектировать хранение файлов в </a:t>
            </a:r>
            <a:r>
              <a:rPr lang="en-US" sz="2600" dirty="0" err="1">
                <a:latin typeface="SB Sans Display Light"/>
              </a:rPr>
              <a:t>MinIO</a:t>
            </a:r>
            <a:endParaRPr lang="ru-RU" sz="2600" dirty="0">
              <a:latin typeface="SB Sans Display Ligh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u-RU" sz="2600" dirty="0">
              <a:latin typeface="SB Sans Display Light"/>
            </a:endParaRPr>
          </a:p>
        </p:txBody>
      </p:sp>
    </p:spTree>
    <p:extLst>
      <p:ext uri="{BB962C8B-B14F-4D97-AF65-F5344CB8AC3E}">
        <p14:creationId xmlns:p14="http://schemas.microsoft.com/office/powerpoint/2010/main" val="677284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38D80E-AB6E-1AF5-0E2F-222B7687E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108857"/>
            <a:ext cx="11179856" cy="1313541"/>
          </a:xfrm>
        </p:spPr>
        <p:txBody>
          <a:bodyPr>
            <a:normAutofit/>
          </a:bodyPr>
          <a:lstStyle/>
          <a:p>
            <a:r>
              <a:rPr lang="ru-RU" dirty="0" err="1"/>
              <a:t>Верхнеуровневое</a:t>
            </a:r>
            <a:r>
              <a:rPr lang="ru-RU" dirty="0"/>
              <a:t> устройство </a:t>
            </a:r>
            <a:r>
              <a:rPr lang="ru-RU" dirty="0" err="1"/>
              <a:t>плагинной</a:t>
            </a:r>
            <a:r>
              <a:rPr lang="ru-RU" dirty="0"/>
              <a:t> архитектуры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0049999-9091-E228-F8F2-7D79540FC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35B0F-8C58-4DB9-9B2E-BF312EBDA35B}" type="slidenum">
              <a:rPr lang="ru-RU" smtClean="0"/>
              <a:pPr/>
              <a:t>4</a:t>
            </a:fld>
            <a:endParaRPr lang="ru-RU" dirty="0"/>
          </a:p>
        </p:txBody>
      </p:sp>
      <p:pic>
        <p:nvPicPr>
          <p:cNvPr id="5" name="Рисунок 4" descr="Изображение выглядит как текст, диаграмма, линия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D2EF07C-A0F6-DE05-B222-35A363301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41" y="2070004"/>
            <a:ext cx="4154290" cy="3652430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603E4AC-1E39-CE57-2263-DD03DF3A3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942" y="1906537"/>
            <a:ext cx="6662945" cy="397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44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E50664-DB0B-0AC9-519F-2C5243816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0" y="0"/>
            <a:ext cx="9882640" cy="752309"/>
          </a:xfrm>
        </p:spPr>
        <p:txBody>
          <a:bodyPr/>
          <a:lstStyle/>
          <a:p>
            <a:r>
              <a:rPr lang="ru-RU" dirty="0" err="1"/>
              <a:t>Плагинизация</a:t>
            </a:r>
            <a:r>
              <a:rPr lang="ru-RU" dirty="0"/>
              <a:t> бэкенда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CB5E5D1-8BA2-272B-262E-F9BC9E0C2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35B0F-8C58-4DB9-9B2E-BF312EBDA35B}" type="slidenum">
              <a:rPr lang="ru-RU" smtClean="0"/>
              <a:pPr/>
              <a:t>5</a:t>
            </a:fld>
            <a:endParaRPr lang="ru-RU" dirty="0"/>
          </a:p>
        </p:txBody>
      </p:sp>
      <p:pic>
        <p:nvPicPr>
          <p:cNvPr id="5" name="Рисунок 4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BD94607-7E70-82AE-BCC3-DDEF54BEE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76" y="846635"/>
            <a:ext cx="4511523" cy="2734861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5084EEB-DB2A-7176-0C75-96DDDFD5E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48" y="3675822"/>
            <a:ext cx="3704562" cy="2734861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4D05006-F677-E2C8-1039-AC54493FF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246" y="986972"/>
            <a:ext cx="3052674" cy="5486400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Шрифт, снимок экрана, алгеб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1E19B93-3AB7-0270-D024-1402DCEDE8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9510" y="675257"/>
            <a:ext cx="3553321" cy="1590897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C1829FA-68C8-5178-D59A-DF5C1A0DCD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9510" y="2459380"/>
            <a:ext cx="3258005" cy="1590897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428B868-6AB9-BF43-16A3-E58CC1E116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5036" y="4159798"/>
            <a:ext cx="3667637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754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D56341-DCDE-1543-E3D0-A578E5E96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31" y="55324"/>
            <a:ext cx="10728324" cy="737795"/>
          </a:xfrm>
        </p:spPr>
        <p:txBody>
          <a:bodyPr/>
          <a:lstStyle/>
          <a:p>
            <a:r>
              <a:rPr lang="ru-RU" dirty="0" err="1"/>
              <a:t>Плагинизация</a:t>
            </a:r>
            <a:r>
              <a:rPr lang="ru-RU" dirty="0"/>
              <a:t> фронтенда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30F0613-E6CA-D688-A4F4-4BB2495C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35B0F-8C58-4DB9-9B2E-BF312EBDA35B}" type="slidenum">
              <a:rPr lang="ru-RU" smtClean="0"/>
              <a:pPr/>
              <a:t>6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1FC6D8-5D21-83F8-AB11-6EB57AC2A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675" y="1034701"/>
            <a:ext cx="8716591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22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8B8DF2-60E9-7696-ADBA-A67B7E837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32" y="55324"/>
            <a:ext cx="10728324" cy="619934"/>
          </a:xfrm>
        </p:spPr>
        <p:txBody>
          <a:bodyPr>
            <a:normAutofit fontScale="90000"/>
          </a:bodyPr>
          <a:lstStyle/>
          <a:p>
            <a:r>
              <a:rPr lang="en-US" dirty="0"/>
              <a:t>Docker </a:t>
            </a:r>
            <a:r>
              <a:rPr lang="ru-RU" dirty="0"/>
              <a:t>образ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64D97C1-D883-D53C-0477-20996AC8B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35B0F-8C58-4DB9-9B2E-BF312EBDA35B}" type="slidenum">
              <a:rPr lang="ru-RU" smtClean="0"/>
              <a:pPr/>
              <a:t>7</a:t>
            </a:fld>
            <a:endParaRPr lang="ru-RU" dirty="0"/>
          </a:p>
        </p:txBody>
      </p:sp>
      <p:pic>
        <p:nvPicPr>
          <p:cNvPr id="5" name="Рисунок 4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A25CA8E-C250-C988-A4B6-44AAD0741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32" y="902296"/>
            <a:ext cx="6936394" cy="48889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1B2F82-507E-7AA9-5008-150FDABF99C0}"/>
              </a:ext>
            </a:extLst>
          </p:cNvPr>
          <p:cNvSpPr txBox="1"/>
          <p:nvPr/>
        </p:nvSpPr>
        <p:spPr>
          <a:xfrm>
            <a:off x="6429828" y="248692"/>
            <a:ext cx="47520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- Используется базовый образ </a:t>
            </a:r>
            <a:r>
              <a:rPr lang="en-US" dirty="0" err="1"/>
              <a:t>jdk</a:t>
            </a:r>
            <a:r>
              <a:rPr lang="en-US" dirty="0"/>
              <a:t> 21</a:t>
            </a:r>
            <a:endParaRPr lang="ru-RU" dirty="0"/>
          </a:p>
          <a:p>
            <a:r>
              <a:rPr lang="ru-RU" dirty="0"/>
              <a:t>- Содержит зависимости, включая тестовый фреймворк</a:t>
            </a:r>
          </a:p>
          <a:p>
            <a:r>
              <a:rPr lang="ru-RU" dirty="0"/>
              <a:t>- Настраивается </a:t>
            </a:r>
            <a:r>
              <a:rPr lang="ru-RU" dirty="0" err="1"/>
              <a:t>тествовый</a:t>
            </a:r>
            <a:r>
              <a:rPr lang="ru-RU" dirty="0"/>
              <a:t> фреймворк</a:t>
            </a:r>
          </a:p>
          <a:p>
            <a:r>
              <a:rPr lang="ru-RU" dirty="0"/>
              <a:t>- Копируется шаблонный проект</a:t>
            </a:r>
          </a:p>
          <a:p>
            <a:r>
              <a:rPr lang="ru-RU" dirty="0"/>
              <a:t>- Команда запуска</a:t>
            </a:r>
          </a:p>
        </p:txBody>
      </p:sp>
      <p:pic>
        <p:nvPicPr>
          <p:cNvPr id="8" name="Рисунок 7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A374407-6BB3-7DC1-FF68-C821A351F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056" y="2074355"/>
            <a:ext cx="2939143" cy="467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010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8B125F-55E3-1BDA-653C-01383286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72271"/>
            <a:ext cx="10728324" cy="1325563"/>
          </a:xfrm>
        </p:spPr>
        <p:txBody>
          <a:bodyPr/>
          <a:lstStyle/>
          <a:p>
            <a:r>
              <a:rPr lang="ru-RU" dirty="0"/>
              <a:t>Хранение файлов в</a:t>
            </a:r>
            <a:r>
              <a:rPr lang="en-US" dirty="0"/>
              <a:t> </a:t>
            </a:r>
            <a:r>
              <a:rPr lang="en-US" dirty="0" err="1"/>
              <a:t>MinIO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BFC608E-0D71-28A7-67EB-7E2699E89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35B0F-8C58-4DB9-9B2E-BF312EBDA35B}" type="slidenum">
              <a:rPr lang="ru-RU" smtClean="0"/>
              <a:pPr/>
              <a:t>8</a:t>
            </a:fld>
            <a:endParaRPr lang="ru-RU" dirty="0"/>
          </a:p>
        </p:txBody>
      </p:sp>
      <p:pic>
        <p:nvPicPr>
          <p:cNvPr id="5" name="Рисунок 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1CFB23B-9708-887B-B56B-5E2A53953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83" y="1414781"/>
            <a:ext cx="5971001" cy="480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517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280BF7-3A4F-F7DA-C681-57E01609A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218" y="55324"/>
            <a:ext cx="10728324" cy="1081254"/>
          </a:xfrm>
        </p:spPr>
        <p:txBody>
          <a:bodyPr/>
          <a:lstStyle/>
          <a:p>
            <a:r>
              <a:rPr lang="ru-RU" dirty="0"/>
              <a:t>Обработка запроса на проверку решения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9FD42C2-E979-D1EC-C4E3-6EDC24AA1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35B0F-8C58-4DB9-9B2E-BF312EBDA35B}" type="slidenum">
              <a:rPr lang="ru-RU" smtClean="0"/>
              <a:pPr/>
              <a:t>9</a:t>
            </a:fld>
            <a:endParaRPr lang="ru-RU" dirty="0"/>
          </a:p>
        </p:txBody>
      </p:sp>
      <p:pic>
        <p:nvPicPr>
          <p:cNvPr id="5" name="Рисунок 4" descr="Изображение выглядит как текст, диаграмм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458EAB8-EA02-CB01-DC6B-A43B7EF8F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71" y="1136578"/>
            <a:ext cx="10319657" cy="555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335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9DD54D87-807A-4B50-8942-BA7D78A94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6855" y="7987269"/>
            <a:ext cx="77584" cy="77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7A667E9C-4E12-476E-BB14-A72660FBF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1925" y="3253142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E5B9B92-8AD0-4CD7-8C60-3C924486C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35B0F-8C58-4DB9-9B2E-BF312EBDA35B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74579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2187</TotalTime>
  <Words>151</Words>
  <Application>Microsoft Office PowerPoint</Application>
  <PresentationFormat>Широкоэкранный</PresentationFormat>
  <Paragraphs>43</Paragraphs>
  <Slides>10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SB Sans Display Light</vt:lpstr>
      <vt:lpstr>Тема Office</vt:lpstr>
      <vt:lpstr>Презентация PowerPoint</vt:lpstr>
      <vt:lpstr>Презентация PowerPoint</vt:lpstr>
      <vt:lpstr>Задание от руководителя</vt:lpstr>
      <vt:lpstr>Верхнеуровневое устройство плагинной архитектуры</vt:lpstr>
      <vt:lpstr>Плагинизация бэкенда</vt:lpstr>
      <vt:lpstr>Плагинизация фронтенда</vt:lpstr>
      <vt:lpstr>Docker образ</vt:lpstr>
      <vt:lpstr>Хранение файлов в MinIO</vt:lpstr>
      <vt:lpstr>Обработка запроса на проверку решения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Онлайн-платформа с алгоритмическими задачами по программированию «SupremeCode»</dc:title>
  <dc:creator>Danil</dc:creator>
  <cp:lastModifiedBy>Fine Danil</cp:lastModifiedBy>
  <cp:revision>282</cp:revision>
  <dcterms:created xsi:type="dcterms:W3CDTF">2024-05-26T17:31:02Z</dcterms:created>
  <dcterms:modified xsi:type="dcterms:W3CDTF">2026-01-19T09:04:02Z</dcterms:modified>
</cp:coreProperties>
</file>