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2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82" r:id="rId20"/>
    <p:sldId id="259" r:id="rId21"/>
    <p:sldId id="28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4F32E18-9AF0-4AB3-8982-37D46F98F16C}">
          <p14:sldIdLst>
            <p14:sldId id="256"/>
            <p14:sldId id="257"/>
            <p14:sldId id="262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2"/>
            <p14:sldId id="259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88267" autoAdjust="0"/>
  </p:normalViewPr>
  <p:slideViewPr>
    <p:cSldViewPr snapToGrid="0">
      <p:cViewPr varScale="1">
        <p:scale>
          <a:sx n="107" d="100"/>
          <a:sy n="107" d="100"/>
        </p:scale>
        <p:origin x="280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2EB05-EC61-4B7F-939D-F86C35DFD879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DC325-56CE-4D5F-8FC4-F9ED44DCC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14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комиссия. 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Тема моей работы - Проектирование и разработка интерактивной информационной системы обучения и проверки навыков программирования.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16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Онлайн-платформы для задач по программированию востребованы в обучении и самостоятельной подготовке.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6498-E8B5-470F-95E1-112A97B3DC6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472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связана с развитием уже существующей базовой платформы, которую я разработал в бакалавриате.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бакалавриате была создана базовая платформа: были изучены аналоги, описана предметная область, реализован основной сценарий решения задачи и первичная проверка решений.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197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магистратуре фокус был другой: не написать платформу заново, а переработать ее архитектурно.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 сосредоточился на хранении задач и решений, безопасности, расширяемой поддержке языков, редакторе кода, AI-сценарии создания задач и инструментах сопровождения.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27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платформе есть два основных пользовательских сценария.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- решение задачи: пользователь выбирает задачу из каталога, изучает описание, пишет код в редакторе, отправляет решение и получает результат проверки.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- создание задачи: автор заполняет описание, выбирает поддерживаемые языки, добавляет тесты, эталонное решение и шаблон, после чего задача валидируется и может быть опубликована.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сценарии определяют, какие сущности нужно хранить в базе данных и какие файловые артефакты нужно вынести в объектное хранилище.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следующим шагом покажу, как эти сценарии отражаются в схеме БД и файловом хранилище.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570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платформе данные разделены на две группы. Метаданные и связи между сущностями хранятся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пользователь, задача, язык, решение, результат проверки и связанные сущности.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Текстовые артефакты вынесены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задачи хранятся тесты, эталонное решение и шаблон решения.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отправке решения оно сохраняется в виде файла. После проверки решения добавляются логи и отчет тестового фреймворка.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можно перейти к полной схеме компонентов, которые реализуют эти сценарии.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270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показан полный состав системы. Я не буду разбирать каждый контейнер отдельно, а выделю основные контуры.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работает с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Основная бизнес-логика сосредоточена в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Проверка решений, запуск произвольного кода и языковая поддержка вынесены в отдельные сервисы исполнения.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Метаданные хранятся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файловые артефакты -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асинхронная проверка построена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для доставки событий пользователям при репликации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отмечу безопасность.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первой версии авторизация была самописной. Для такой части системы это рискованно, поэтому в магистерской версии она заменена на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Keycloak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архитектуры важно само разделение: управление пользователями и токенами вынесено в специализированный сервис.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этой карте компонентов можно проследить основной технический процесс платформы - проверку решения.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852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пользователь отправляет решение,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создает запись о решении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сохраняет код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После этого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отправляется сообщение на проверку.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получает сообщение, загружает из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тесты и пользовательское решение, затем запускает проверку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-контейнере. Это важно, потому что пользовательский код является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недоверенным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После завершения проверки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получает отчет тестового фреймворка, преобразует его в единый формат результата и отправляет результат обратно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сохраняет результат и публикует уведомление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после чего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получает событие по SSE.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Следующий вопрос - как привести результаты разных языков и тестовых фреймворков к единому виду.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678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разных языков используются разные инструменты проверки: например,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или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Но для платформы результат должен выглядеть одинаково: сколько тестов выполнено, сколько упало, какие ошибки произошли, засчитано ли решение. Поэтому после запуска тестов отчет в формате `junit.xml` или похожем XML преобразуется через языковой плагин в единый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TestExecutionResult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одного преобразования результата мало. Для языка нужно еще описать, как его запускать и какие файлы куда класть. Это вынесено в конфигурацию платформы.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504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Конфигурация языка собрана в одном месте.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проверки указывается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-образ, команда запуска тестов, пути к файлам решения и тестов, путь к отчету и класс плагина, который преобразует отчет в единый результат.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задается конфигурация запуска кода в песочнице и конфигурация LSP.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новый язык подключается не переписыванием ядра платформы, а добавлением конфигурации,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-образов и при необходимости нового плагина.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 же конфигурация используется не только для проверки, но и для улучшения редактора кода через LSP.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267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базовой версии редактор фактически давал только ввод кода и подсветку. В магистерской версии добавлена интеграция с LSP. Платформа не реализует анализ кода самостоятельно, а использует существующие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пользователя это дает автодополнение, диагностику и более привычный опыт разработки. На серверной стороне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lsp-manager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запускает LSP-сервер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-контейнере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проксирует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его стандартный ввод-вывод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-соединение с редактором.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058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Следующая доработка связана уже не с решением задач, а с их созданием и редактированием.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задач по программированию часто требует написать описание, тесты, эталонное решение и шаблоны для разных языков. Вместо того чтобы писать собственного AI-агента внутри платформы, я использовал другой подход. Платформа экспортирует задачу как набор файлов на диск и добавляет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описанием структуры задачи. Пользователь запускает привычного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этой директории. Агент редактирует файлы, а через MCP может вызывать функции платформы, например валидацию задачи и импорт результата обратно во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16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система состоит из нескольких сервисов и асинхронных процессов, важно видеть, что с ней происходит при работе.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сопровождения платформы внедрены инструменты наблюдаемости. Это важно для эксплуатации системы. Метрики показывают общее состояние и нагрузку, например количество отправок решений и результаты проверок.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Трассировка позволяет увидеть путь конкретной операции через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Логи можно отфильтровать по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trace_id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чтобы восстановить контекст конкретного запроса.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Метрики показывают, что проблема есть.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показывает, где она возникла. Логи помогают понять, почему.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76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проектных и технических решений покажу итоговый пользовательский сценарий работы платформы.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демонстрационном сценарии создадим "Лабораторную по ИИ №1" на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внешней библиотекой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Пишем описание.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8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E5D0-376A-ACEB-5D07-FA6DC7E2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5AD7FD-FA65-B003-8DE6-88ABD0928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F76E2DA-D8C0-C338-93EA-11790CC6C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помогает доработать тесты, решение или шаблон.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C7B94C-573F-633A-E3AC-E0D95FA34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730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9D8A-9262-B56D-A304-1ACAE6D2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126EA93-F367-C323-9556-81CF30803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7FDE83-9245-47F3-2D70-F660B8DE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помогает доработать тесты, решение или шаблон.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4B6CFC-F036-A08F-46A0-F84F7306F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09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4CE7-18AC-6C8A-8251-7B70C979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BCF5B0-EC2A-287C-D76C-E468870E5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CB6DDA-DCBF-EEE7-08D9-1122349A3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 пользователь решает задачу в редакторе. В написании кода ему помогает языковой сервер.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FDE69F-2F1B-6DE8-9097-D946C8B0F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742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9AF9-FC93-C0EC-9A20-132D265E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4915B2-F7AF-9DBD-1B92-43C0DFFCE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D208297-7394-FE16-A90E-F38EC2EC5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отправляет решение на проверку и получает результат асинхронно.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этим пользовательским сценарием стоит уже показанная архитектура: хранение файлов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проверка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запуск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сохранение результата.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5D2C47-ACB4-83A8-8F38-C117A4E56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147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63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часть с которой взаимодействует пользователь – это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6498-E8B5-470F-95E1-112A97B3DC6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31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8686D-6F44-F02C-9BEA-D5948E779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49E4C7-B924-076E-9CAF-1A782EDB4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9AFB7-1F1B-F6AA-7EEA-8F37394C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F36FB-60D2-4591-91B1-494ED38C6BD1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CADA1A-FD1F-9473-D104-F3712506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A832CD-E65E-D068-0CC9-831BC995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164" y="168492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9088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4421B-7FDE-09B6-D0D1-29758441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689F8-CB5B-A958-0A78-5EF1AEA52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5D6872-6FDF-70ED-5D99-6581F19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5572-F86B-4AAF-9901-DBEA81AB7ACD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1D5F3-A144-07A1-6F9B-F94513B8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B3480F-5435-1529-2A67-CA4BA1EF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534" y="133274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8971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B9AA9-3AE7-4975-D735-948B75A8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DD800B-DC96-49C9-71B4-690D9209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A57112-B7FB-9525-4D93-09C3B347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3FC0-79C6-44ED-8998-3FF0C40B5FA2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16152E-A963-F72C-4256-A79C8E19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A31500-72E6-5BAC-336B-9A90230B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161" y="93336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08389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EFBDF-DADA-9A35-906A-9DF5EEFF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B96F13-14A1-C607-D326-CEE739D35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315180-BB21-B74D-51C4-8789DA345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F70C9C-8747-A68D-C256-5F807BA7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BB7B-30EB-4876-90DB-AE0CD21537F2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3836DA-6F57-AEAC-B20A-C0531982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9F938E-7C69-162B-5482-0ADE1BD8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057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64344-CF3E-8183-1853-440A2546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613377-FE11-8531-AB61-BB16BD36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5ADF9A-A362-BA20-4F16-38FFBFAF9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A843C7-71B8-614C-1A4A-AF77F269C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A123FC-1A5C-56D1-7CC3-5A35C8F2B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28F43F-EF38-2A93-9CE8-38BCC630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23B3-65EC-4DB2-BE01-9137E4C731B5}" type="datetime1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53B420-14B4-D334-7942-D88169CD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801420-2092-6056-26DB-33D259C5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7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A33E1-0584-0BFE-2F0A-945B68AE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4B7C3C-E3F9-52D8-36E4-FF54B9DE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492F-F41F-4E9E-B4F0-FE1D345FAC77}" type="datetime1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0EC975D-D6EF-06F2-E7F2-CA093F1E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68B15D-95A3-CF23-7D6F-3BC0271D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058" y="182562"/>
            <a:ext cx="2743200" cy="365125"/>
          </a:xfrm>
        </p:spPr>
        <p:txBody>
          <a:bodyPr/>
          <a:lstStyle>
            <a:lvl1pPr>
              <a:defRPr sz="36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25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1F4F13-6EA2-0572-5F96-26A40E0A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6D96-835C-4F41-BEB4-A4AD62CA6291}" type="datetime1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7265B0-CC84-6722-9D8E-610EDBCE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E11718-01D0-C032-E7FF-789DEF32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30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DBC1C-D70E-F89A-2A63-4A44854B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C27E1-9769-0DB7-3B55-DE0B0964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AEFD36-E1AA-0DCA-A71C-094E6D285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23D9E3-AC2E-B2E1-842D-CF8CAD0D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0B7B-54F2-43ED-8454-A2A4DAA3A1C5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8A2CDA-43C8-DC9A-7290-C0159265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003481-5161-AC60-5440-CADE3D5A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98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8FDFE-CDB2-99BC-C52B-D314E7687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4F52FF-2388-1F32-1333-897B4729C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989547-922E-6329-A705-F521C1867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0E2C0D-1468-F1EE-F152-71D10AAA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2C1E6-D228-4BC0-AF51-CF5CA9AEE0BB}" type="datetime1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F9A010-5C08-4A21-886D-866D1747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394994-EDE3-02BA-803D-5149AB05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87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C0021-FF84-93B3-A830-ED3750B8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E97F76-F1C9-E6A4-8419-29F22F6CE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166532-2C2C-0F41-BB82-029B7C75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BE88-034B-45D5-A944-94F3A3054064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24AD3-90DE-5E4C-531B-FE245ABE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6E9320-FB1D-5316-299C-27083D28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29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60757A-8474-6FE8-7998-302EDB5D5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E83133-BF6D-0F0B-D88F-805FA3C91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2D8875-48C5-8524-CCEF-E1A9486F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D88AA-06F5-4B86-89B9-99EC2B8F7434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D2793C-5894-0241-153A-2A9BAE4B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89B0BC-F85E-EF5A-0AA2-32430F8D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60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54423-F582-D8F3-E62E-C405172A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0682C0-EB56-CC96-8BCD-8E7498E81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E238-E179-7701-1011-E977A1506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10270-3E98-416C-AE29-5456650D1D8B}" type="datetime1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193677-177F-3E59-BFF5-9D24DDEA6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CB5994-5B31-CCA7-1549-184FFE90B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08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jpe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9">
            <a:extLst>
              <a:ext uri="{FF2B5EF4-FFF2-40B4-BE49-F238E27FC236}">
                <a16:creationId xmlns:a16="http://schemas.microsoft.com/office/drawing/2014/main" id="{080B73E4-E3F3-119F-B678-6452AEC7A5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847948" y="153056"/>
            <a:ext cx="784860" cy="809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5403FE-A299-1177-4EC8-B57D5AB2CC51}"/>
              </a:ext>
            </a:extLst>
          </p:cNvPr>
          <p:cNvSpPr txBox="1"/>
          <p:nvPr/>
        </p:nvSpPr>
        <p:spPr bwMode="auto">
          <a:xfrm>
            <a:off x="2467927" y="3002600"/>
            <a:ext cx="7544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интерактивной информационной системы обучения и проверки навыков программирования</a:t>
            </a:r>
            <a:endParaRPr lang="ru-KZ" sz="2400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SupremeCode</a:t>
            </a:r>
            <a:r>
              <a:rPr lang="ru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K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04719-0FC8-F4CE-1EA6-61B5AE8E4A09}"/>
              </a:ext>
            </a:extLst>
          </p:cNvPr>
          <p:cNvSpPr txBox="1"/>
          <p:nvPr/>
        </p:nvSpPr>
        <p:spPr bwMode="auto">
          <a:xfrm>
            <a:off x="292100" y="5249369"/>
            <a:ext cx="3778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одготовил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студент группы МПР21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Голосуев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Данил Витальевич</a:t>
            </a:r>
            <a:endParaRPr lang="ru-K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C8EC8E-DF3A-8744-DE07-A0ED8E0364C2}"/>
              </a:ext>
            </a:extLst>
          </p:cNvPr>
          <p:cNvSpPr txBox="1"/>
          <p:nvPr/>
        </p:nvSpPr>
        <p:spPr bwMode="auto">
          <a:xfrm>
            <a:off x="292100" y="5943734"/>
            <a:ext cx="299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ВКР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Долгов Василий Валерьевич</a:t>
            </a:r>
            <a:endParaRPr lang="ru-K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B9246-2EC1-BE33-96A6-52B7509C332C}"/>
              </a:ext>
            </a:extLst>
          </p:cNvPr>
          <p:cNvSpPr txBox="1"/>
          <p:nvPr/>
        </p:nvSpPr>
        <p:spPr bwMode="auto">
          <a:xfrm>
            <a:off x="5049751" y="6101757"/>
            <a:ext cx="2381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Ростов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-на-Дону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K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AC7D77E-D519-AC91-FB43-8C6CE9D8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12EF6-ACD5-1438-490F-3CC54E00B251}"/>
              </a:ext>
            </a:extLst>
          </p:cNvPr>
          <p:cNvSpPr txBox="1"/>
          <p:nvPr/>
        </p:nvSpPr>
        <p:spPr>
          <a:xfrm>
            <a:off x="658091" y="1033260"/>
            <a:ext cx="11756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российский федерации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78E72-8806-B5B8-9BF8-C31841C7598B}"/>
              </a:ext>
            </a:extLst>
          </p:cNvPr>
          <p:cNvSpPr txBox="1"/>
          <p:nvPr/>
        </p:nvSpPr>
        <p:spPr>
          <a:xfrm>
            <a:off x="872837" y="1441127"/>
            <a:ext cx="108827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</a:t>
            </a:r>
          </a:p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высшего образования</a:t>
            </a:r>
          </a:p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«донской государственный технический университет»</a:t>
            </a:r>
          </a:p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</a:p>
        </p:txBody>
      </p:sp>
    </p:spTree>
    <p:extLst>
      <p:ext uri="{BB962C8B-B14F-4D97-AF65-F5344CB8AC3E}">
        <p14:creationId xmlns:p14="http://schemas.microsoft.com/office/powerpoint/2010/main" val="5876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DFA1083-292A-89CE-20A2-7F0FBAD8CC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53291" y="133274"/>
            <a:ext cx="10515600" cy="1325563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выбранной темы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896767CB-19AF-06F9-3D89-BBEC4D58F456}"/>
              </a:ext>
            </a:extLst>
          </p:cNvPr>
          <p:cNvSpPr txBox="1">
            <a:spLocks/>
          </p:cNvSpPr>
          <p:nvPr/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Высокий спрос на интернет-образование в сфере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Ускорение обучения программированию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Эффективная подготовка к техническим собеседованиям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193DCE-9A39-4350-08F9-97A1252A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76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4B78CE-41D5-5F15-72FF-A12FDB96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18CEC63-C147-AFCD-C142-7C9439F4C099}"/>
              </a:ext>
            </a:extLst>
          </p:cNvPr>
          <p:cNvSpPr txBox="1">
            <a:spLocks/>
          </p:cNvSpPr>
          <p:nvPr/>
        </p:nvSpPr>
        <p:spPr bwMode="auto">
          <a:xfrm>
            <a:off x="245166" y="123483"/>
            <a:ext cx="10515600" cy="698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Цели и задачи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F18E5BD-1F3E-CA51-0266-81B3F022712C}"/>
              </a:ext>
            </a:extLst>
          </p:cNvPr>
          <p:cNvSpPr txBox="1">
            <a:spLocks/>
          </p:cNvSpPr>
          <p:nvPr/>
        </p:nvSpPr>
        <p:spPr bwMode="auto">
          <a:xfrm>
            <a:off x="568186" y="2730751"/>
            <a:ext cx="10515600" cy="34381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Проведен анализ предметной области и сравнение существующих аналогов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Спроектирована базовая предметная область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 базовый пользовательский сценарий решения задачи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Реализована первичная архитектура платформы с автоматической проверкой решений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381CA-72EB-929E-137F-EC73EE893C5D}"/>
              </a:ext>
            </a:extLst>
          </p:cNvPr>
          <p:cNvSpPr txBox="1"/>
          <p:nvPr/>
        </p:nvSpPr>
        <p:spPr bwMode="auto">
          <a:xfrm>
            <a:off x="568186" y="1050843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Цель работы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ускорение процесса обучения программированию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5E508-EEBC-5EAB-52C9-B3775279159F}"/>
              </a:ext>
            </a:extLst>
          </p:cNvPr>
          <p:cNvSpPr txBox="1"/>
          <p:nvPr/>
        </p:nvSpPr>
        <p:spPr bwMode="auto">
          <a:xfrm>
            <a:off x="568186" y="2102831"/>
            <a:ext cx="7184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Задачи выполненные в бакалавриате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29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00219384-0E85-72F1-7ECF-9D9BD571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F428AE64-F23E-3E41-5ECE-3D5E34B57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" y="136525"/>
            <a:ext cx="10515600" cy="70830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Задачи в магистратуре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2526DABD-C33D-4919-97EC-740C56E6D89B}"/>
              </a:ext>
            </a:extLst>
          </p:cNvPr>
          <p:cNvSpPr txBox="1">
            <a:spLocks/>
          </p:cNvSpPr>
          <p:nvPr/>
        </p:nvSpPr>
        <p:spPr bwMode="auto">
          <a:xfrm>
            <a:off x="303142" y="1049405"/>
            <a:ext cx="11338892" cy="50730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Переработать архитектуру платформы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Спроектировать хранение метаданных и файловых артефактов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Заменить самописную авторизацию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модель привилегий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Расширить поддержку языков через конфигурацию и плагины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сценарий редактирования задач с помощью ИИ-агента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Повысить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сопровождаемость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через репликацию, доставку результатов и наблюдаемость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Продемонстрировать работу платформы на пользовательском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380398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7321F73-B73C-D626-EB00-0E55C8EA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800" y="1253331"/>
            <a:ext cx="4648200" cy="58266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Сценарий решения задачи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9AA7A4-54E8-ED55-5234-518044ED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CAC94CE-0A29-3ADC-9A96-D7E9190A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" y="136525"/>
            <a:ext cx="10515600" cy="70830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Пользовательские сценарии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E3D9416-3103-8FC1-D2CD-090439AC1D79}"/>
              </a:ext>
            </a:extLst>
          </p:cNvPr>
          <p:cNvSpPr txBox="1">
            <a:spLocks/>
          </p:cNvSpPr>
          <p:nvPr/>
        </p:nvSpPr>
        <p:spPr>
          <a:xfrm>
            <a:off x="6367800" y="1253330"/>
            <a:ext cx="5022600" cy="5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Сценарий создания задачи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D20337D-E3BF-70C9-CB7A-74C3BA31D95D}"/>
              </a:ext>
            </a:extLst>
          </p:cNvPr>
          <p:cNvSpPr/>
          <p:nvPr/>
        </p:nvSpPr>
        <p:spPr>
          <a:xfrm>
            <a:off x="830346" y="1919394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Каталог задач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705475B-AAB6-B9CB-6C0D-B65EDBD9E331}"/>
              </a:ext>
            </a:extLst>
          </p:cNvPr>
          <p:cNvSpPr/>
          <p:nvPr/>
        </p:nvSpPr>
        <p:spPr>
          <a:xfrm>
            <a:off x="830346" y="2762703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Описание задачи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25393D6-13DF-4FD6-F19D-CEB588D59975}"/>
              </a:ext>
            </a:extLst>
          </p:cNvPr>
          <p:cNvSpPr/>
          <p:nvPr/>
        </p:nvSpPr>
        <p:spPr>
          <a:xfrm>
            <a:off x="830346" y="3606012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Редактор кода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3BABBD-1F0B-0540-0148-585CD2581383}"/>
              </a:ext>
            </a:extLst>
          </p:cNvPr>
          <p:cNvSpPr/>
          <p:nvPr/>
        </p:nvSpPr>
        <p:spPr>
          <a:xfrm>
            <a:off x="830346" y="4449321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Отправка решения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C507DF5-6983-9400-C60C-7FD385DC7776}"/>
              </a:ext>
            </a:extLst>
          </p:cNvPr>
          <p:cNvSpPr/>
          <p:nvPr/>
        </p:nvSpPr>
        <p:spPr>
          <a:xfrm>
            <a:off x="830346" y="5292630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Результат проверки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45759D8-D30C-6C12-8E7F-1D976B40F679}"/>
              </a:ext>
            </a:extLst>
          </p:cNvPr>
          <p:cNvSpPr/>
          <p:nvPr/>
        </p:nvSpPr>
        <p:spPr>
          <a:xfrm>
            <a:off x="7133866" y="1919394"/>
            <a:ext cx="3774131" cy="9750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Форма редактирования задачи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BA9B522-9E55-A5D8-F8FA-805FA1DF8CD8}"/>
              </a:ext>
            </a:extLst>
          </p:cNvPr>
          <p:cNvSpPr/>
          <p:nvPr/>
        </p:nvSpPr>
        <p:spPr>
          <a:xfrm>
            <a:off x="7133866" y="3072861"/>
            <a:ext cx="3774132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Языки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9E5972-61A1-865E-70F5-0E5FB6B1C060}"/>
              </a:ext>
            </a:extLst>
          </p:cNvPr>
          <p:cNvSpPr/>
          <p:nvPr/>
        </p:nvSpPr>
        <p:spPr>
          <a:xfrm>
            <a:off x="7133866" y="3917619"/>
            <a:ext cx="3774133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Тесты, решение, шаблон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12D982D-0A57-FA11-6CBA-5EE3468426B1}"/>
              </a:ext>
            </a:extLst>
          </p:cNvPr>
          <p:cNvSpPr/>
          <p:nvPr/>
        </p:nvSpPr>
        <p:spPr>
          <a:xfrm>
            <a:off x="7133866" y="4762377"/>
            <a:ext cx="3774133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Валидация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6D9FFE5-E9C4-AE92-B0ED-DC041253D69E}"/>
              </a:ext>
            </a:extLst>
          </p:cNvPr>
          <p:cNvSpPr/>
          <p:nvPr/>
        </p:nvSpPr>
        <p:spPr>
          <a:xfrm>
            <a:off x="7133864" y="5604670"/>
            <a:ext cx="3774133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Публикация</a:t>
            </a:r>
          </a:p>
        </p:txBody>
      </p:sp>
    </p:spTree>
    <p:extLst>
      <p:ext uri="{BB962C8B-B14F-4D97-AF65-F5344CB8AC3E}">
        <p14:creationId xmlns:p14="http://schemas.microsoft.com/office/powerpoint/2010/main" val="374007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D707-240A-0989-EF70-F69A005C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66" y="68019"/>
            <a:ext cx="10515600" cy="717888"/>
          </a:xfrm>
        </p:spPr>
        <p:txBody>
          <a:bodyPr/>
          <a:lstStyle/>
          <a:p>
            <a:r>
              <a:rPr lang="ru-RU" dirty="0"/>
              <a:t>Хранение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DD9DA7-D7DB-C6BA-DE2B-4F6FDE47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pPr/>
              <a:t>6</a:t>
            </a:fld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2BAC0-8250-399C-F818-9F269689AE63}"/>
              </a:ext>
            </a:extLst>
          </p:cNvPr>
          <p:cNvSpPr txBox="1"/>
          <p:nvPr/>
        </p:nvSpPr>
        <p:spPr>
          <a:xfrm>
            <a:off x="181866" y="785907"/>
            <a:ext cx="6998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Пути хранения файлов в </a:t>
            </a:r>
            <a:r>
              <a:rPr lang="en-US" sz="2400" dirty="0" err="1"/>
              <a:t>MinIO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i="1" dirty="0"/>
              <a:t>/</a:t>
            </a:r>
            <a:r>
              <a:rPr lang="ru-RU" sz="2400" i="1" dirty="0" err="1"/>
              <a:t>problems</a:t>
            </a:r>
            <a:r>
              <a:rPr lang="ru-RU" sz="2400" i="1" dirty="0"/>
              <a:t>/{</a:t>
            </a:r>
            <a:r>
              <a:rPr lang="ru-RU" sz="2400" i="1" dirty="0" err="1"/>
              <a:t>problemId</a:t>
            </a:r>
            <a:r>
              <a:rPr lang="ru-RU" sz="2400" i="1" dirty="0"/>
              <a:t>}/</a:t>
            </a:r>
            <a:r>
              <a:rPr lang="ru-RU" sz="2400" i="1" dirty="0" err="1"/>
              <a:t>languages</a:t>
            </a:r>
            <a:r>
              <a:rPr lang="ru-RU" sz="2400" i="1" dirty="0"/>
              <a:t>/</a:t>
            </a:r>
            <a:br>
              <a:rPr lang="en-US" sz="2400" i="1" dirty="0"/>
            </a:br>
            <a:r>
              <a:rPr lang="ru-RU" sz="2400" i="1" dirty="0"/>
              <a:t>{</a:t>
            </a:r>
            <a:r>
              <a:rPr lang="ru-RU" sz="2400" i="1" dirty="0" err="1"/>
              <a:t>languageId</a:t>
            </a:r>
            <a:r>
              <a:rPr lang="ru-RU" sz="2400" i="1" dirty="0"/>
              <a:t>}/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test.txt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solution.txt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solution-template.txt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i="1" dirty="0"/>
              <a:t>/</a:t>
            </a:r>
            <a:r>
              <a:rPr lang="ru-RU" sz="2400" i="1" dirty="0" err="1"/>
              <a:t>users</a:t>
            </a:r>
            <a:r>
              <a:rPr lang="ru-RU" sz="2400" i="1" dirty="0"/>
              <a:t>/{</a:t>
            </a:r>
            <a:r>
              <a:rPr lang="ru-RU" sz="2400" i="1" dirty="0" err="1"/>
              <a:t>userId</a:t>
            </a:r>
            <a:r>
              <a:rPr lang="ru-RU" sz="2400" i="1" dirty="0"/>
              <a:t>}/</a:t>
            </a:r>
            <a:r>
              <a:rPr lang="ru-RU" sz="2400" i="1" dirty="0" err="1"/>
              <a:t>problems</a:t>
            </a:r>
            <a:r>
              <a:rPr lang="ru-RU" sz="2400" i="1" dirty="0"/>
              <a:t>/{</a:t>
            </a:r>
            <a:r>
              <a:rPr lang="ru-RU" sz="2400" i="1" dirty="0" err="1"/>
              <a:t>problemId</a:t>
            </a:r>
            <a:r>
              <a:rPr lang="ru-RU" sz="2400" i="1" dirty="0"/>
              <a:t>}</a:t>
            </a:r>
            <a:br>
              <a:rPr lang="en-US" sz="2400" i="1" dirty="0"/>
            </a:br>
            <a:r>
              <a:rPr lang="ru-RU" sz="2400" i="1" dirty="0"/>
              <a:t>/</a:t>
            </a:r>
            <a:r>
              <a:rPr lang="ru-RU" sz="2400" i="1" dirty="0" err="1"/>
              <a:t>languages</a:t>
            </a:r>
            <a:r>
              <a:rPr lang="ru-RU" sz="2400" i="1" dirty="0"/>
              <a:t>/{</a:t>
            </a:r>
            <a:r>
              <a:rPr lang="ru-RU" sz="2400" i="1" dirty="0" err="1"/>
              <a:t>languageId</a:t>
            </a:r>
            <a:r>
              <a:rPr lang="ru-RU" sz="2400" i="1" dirty="0"/>
              <a:t>}/</a:t>
            </a:r>
            <a:r>
              <a:rPr lang="ru-RU" sz="2400" i="1" dirty="0" err="1"/>
              <a:t>solutions</a:t>
            </a:r>
            <a:r>
              <a:rPr lang="ru-RU" sz="2400" i="1" dirty="0"/>
              <a:t>/{</a:t>
            </a:r>
            <a:r>
              <a:rPr lang="ru-RU" sz="2400" i="1" dirty="0" err="1"/>
              <a:t>solutionId</a:t>
            </a:r>
            <a:r>
              <a:rPr lang="ru-RU" sz="2400" i="1" dirty="0"/>
              <a:t>}/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solution.txt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logs.txt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report.txt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5A3396-1A95-CDDC-D6D6-6E5FF4E6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244" y="1173600"/>
            <a:ext cx="4858690" cy="5551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2DE966-3D24-3814-C423-9C4842465CC0}"/>
              </a:ext>
            </a:extLst>
          </p:cNvPr>
          <p:cNvSpPr txBox="1"/>
          <p:nvPr/>
        </p:nvSpPr>
        <p:spPr>
          <a:xfrm>
            <a:off x="7151466" y="762437"/>
            <a:ext cx="4757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Схема базы данных</a:t>
            </a:r>
            <a:r>
              <a:rPr lang="en-US" sz="2400" dirty="0"/>
              <a:t> PostgreSQL</a:t>
            </a:r>
          </a:p>
        </p:txBody>
      </p:sp>
    </p:spTree>
    <p:extLst>
      <p:ext uri="{BB962C8B-B14F-4D97-AF65-F5344CB8AC3E}">
        <p14:creationId xmlns:p14="http://schemas.microsoft.com/office/powerpoint/2010/main" val="293642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4656F-698F-34E8-DDD7-C4B8416B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0" y="8380"/>
            <a:ext cx="10515600" cy="769088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Общая архитектура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AB251F-A167-33A7-734F-520DBF15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8AED86D-2324-7F11-65D9-20E2423E0A1A}"/>
              </a:ext>
            </a:extLst>
          </p:cNvPr>
          <p:cNvGrpSpPr/>
          <p:nvPr/>
        </p:nvGrpSpPr>
        <p:grpSpPr>
          <a:xfrm>
            <a:off x="7620692" y="4970755"/>
            <a:ext cx="4484031" cy="1811987"/>
            <a:chOff x="8735612" y="5072540"/>
            <a:chExt cx="4547584" cy="1811987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83BA797-207F-E710-5D74-D7BFE632F09A}"/>
                </a:ext>
              </a:extLst>
            </p:cNvPr>
            <p:cNvSpPr/>
            <p:nvPr/>
          </p:nvSpPr>
          <p:spPr bwMode="auto">
            <a:xfrm>
              <a:off x="8735612" y="5072540"/>
              <a:ext cx="4547584" cy="18119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         Grafana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944762F-2DBF-C7EB-EF46-68546E982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0310" y="5175313"/>
              <a:ext cx="523131" cy="548933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C3BD3D8-D977-349C-FCAE-E9991D5525C6}"/>
              </a:ext>
            </a:extLst>
          </p:cNvPr>
          <p:cNvGrpSpPr/>
          <p:nvPr/>
        </p:nvGrpSpPr>
        <p:grpSpPr>
          <a:xfrm>
            <a:off x="117757" y="3253762"/>
            <a:ext cx="2314058" cy="864096"/>
            <a:chOff x="876403" y="2278198"/>
            <a:chExt cx="2314058" cy="8640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DED82B8-2DDA-73F1-3847-9D53F4BA69E1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8DE0A0E4-11B1-C474-549B-30C5B88D1D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409" y="2457605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5124DBB-223B-6537-3875-A632C8EDDC3E}"/>
              </a:ext>
            </a:extLst>
          </p:cNvPr>
          <p:cNvGrpSpPr/>
          <p:nvPr/>
        </p:nvGrpSpPr>
        <p:grpSpPr>
          <a:xfrm>
            <a:off x="2936621" y="3254460"/>
            <a:ext cx="2868936" cy="864096"/>
            <a:chOff x="5142282" y="2340357"/>
            <a:chExt cx="2692282" cy="864096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3B5A4BC5-D384-A627-D3E6-BD358DA295A3}"/>
                </a:ext>
              </a:extLst>
            </p:cNvPr>
            <p:cNvSpPr/>
            <p:nvPr/>
          </p:nvSpPr>
          <p:spPr bwMode="auto">
            <a:xfrm>
              <a:off x="5142282" y="2340357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CD3DF5-5AED-C3DE-0187-0AAD177FC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952" y="2557823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9BEF0A4-3FFE-9DFA-C187-979CCCDF8192}"/>
              </a:ext>
            </a:extLst>
          </p:cNvPr>
          <p:cNvGrpSpPr/>
          <p:nvPr/>
        </p:nvGrpSpPr>
        <p:grpSpPr>
          <a:xfrm>
            <a:off x="6563099" y="3256651"/>
            <a:ext cx="1819836" cy="864096"/>
            <a:chOff x="4928918" y="2270225"/>
            <a:chExt cx="1819836" cy="864096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D6551ABC-DE29-A136-8715-AE3469E27F0C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Kafka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51E82DBA-E6A4-7F35-A1AA-894044F43E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DE5B9D8-F6DD-B94B-E8FD-8CB02433A357}"/>
              </a:ext>
            </a:extLst>
          </p:cNvPr>
          <p:cNvGrpSpPr/>
          <p:nvPr/>
        </p:nvGrpSpPr>
        <p:grpSpPr>
          <a:xfrm>
            <a:off x="2554049" y="5850876"/>
            <a:ext cx="1773558" cy="864096"/>
            <a:chOff x="5028015" y="4936300"/>
            <a:chExt cx="1703979" cy="864096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EB21A06C-EFED-838D-E782-40617045F929}"/>
                </a:ext>
              </a:extLst>
            </p:cNvPr>
            <p:cNvSpPr/>
            <p:nvPr/>
          </p:nvSpPr>
          <p:spPr bwMode="auto">
            <a:xfrm>
              <a:off x="5028015" y="4936300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>
                  <a:latin typeface="Arial" panose="020B0604020202020204" pitchFamily="34" charset="0"/>
                  <a:cs typeface="Arial" panose="020B0604020202020204" pitchFamily="34" charset="0"/>
                </a:rPr>
                <a:t>СУБД</a:t>
              </a: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92A342A6-8DD2-ED39-9146-C278529D81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1861" y="5036938"/>
              <a:ext cx="715659" cy="71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CE52608-8B27-1397-4244-1484F2D88445}"/>
              </a:ext>
            </a:extLst>
          </p:cNvPr>
          <p:cNvGrpSpPr/>
          <p:nvPr/>
        </p:nvGrpSpPr>
        <p:grpSpPr>
          <a:xfrm>
            <a:off x="8222136" y="1393209"/>
            <a:ext cx="2979263" cy="864096"/>
            <a:chOff x="8116466" y="210141"/>
            <a:chExt cx="2979263" cy="864096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55B49D14-0F5E-6FF2-9362-FBE1D21C14E1}"/>
                </a:ext>
              </a:extLst>
            </p:cNvPr>
            <p:cNvSpPr/>
            <p:nvPr/>
          </p:nvSpPr>
          <p:spPr bwMode="auto">
            <a:xfrm>
              <a:off x="8116466" y="210141"/>
              <a:ext cx="2979263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Docker Engine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Picture 8">
              <a:extLst>
                <a:ext uri="{FF2B5EF4-FFF2-40B4-BE49-F238E27FC236}">
                  <a16:creationId xmlns:a16="http://schemas.microsoft.com/office/drawing/2014/main" id="{773882D2-FA29-E9C3-5BAC-D21C5A542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0505" y="420708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AB5AADE-99BF-DBEB-9FBB-12E7B6933BA7}"/>
              </a:ext>
            </a:extLst>
          </p:cNvPr>
          <p:cNvGrpSpPr/>
          <p:nvPr/>
        </p:nvGrpSpPr>
        <p:grpSpPr>
          <a:xfrm>
            <a:off x="9308177" y="3241731"/>
            <a:ext cx="2624847" cy="864096"/>
            <a:chOff x="5062312" y="2308196"/>
            <a:chExt cx="2624847" cy="864096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70C91545-B0A5-82CA-A8B0-34B7789B8932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10">
              <a:extLst>
                <a:ext uri="{FF2B5EF4-FFF2-40B4-BE49-F238E27FC236}">
                  <a16:creationId xmlns:a16="http://schemas.microsoft.com/office/drawing/2014/main" id="{E7C4B24C-9054-695F-B334-EEC45305E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54B2C38-1ED7-E2D7-996B-EFF7E27AC4C0}"/>
              </a:ext>
            </a:extLst>
          </p:cNvPr>
          <p:cNvGrpSpPr/>
          <p:nvPr/>
        </p:nvGrpSpPr>
        <p:grpSpPr>
          <a:xfrm>
            <a:off x="2902903" y="1030236"/>
            <a:ext cx="2774071" cy="864096"/>
            <a:chOff x="5062312" y="2308196"/>
            <a:chExt cx="2624847" cy="864096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8ECDE45-6861-E693-850B-62C82C77CAFD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Task-Runner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Picture 10">
              <a:extLst>
                <a:ext uri="{FF2B5EF4-FFF2-40B4-BE49-F238E27FC236}">
                  <a16:creationId xmlns:a16="http://schemas.microsoft.com/office/drawing/2014/main" id="{11EB8B9C-4E9D-3850-6354-136B5526B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DEE72EE7-DDDB-AA1E-F854-625D6F082DAD}"/>
              </a:ext>
            </a:extLst>
          </p:cNvPr>
          <p:cNvGrpSpPr/>
          <p:nvPr/>
        </p:nvGrpSpPr>
        <p:grpSpPr>
          <a:xfrm>
            <a:off x="5866966" y="4313824"/>
            <a:ext cx="1703979" cy="893846"/>
            <a:chOff x="5498577" y="4740164"/>
            <a:chExt cx="1703979" cy="893846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1FB475E1-701B-A27D-40E3-1CC2427AE5AF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MinIO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1" name="Picture 2" descr="Picture background">
              <a:extLst>
                <a:ext uri="{FF2B5EF4-FFF2-40B4-BE49-F238E27FC236}">
                  <a16:creationId xmlns:a16="http://schemas.microsoft.com/office/drawing/2014/main" id="{63E1750C-0120-106E-2CCF-A0ACE8061E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4164876F-512E-5D40-6936-1C537D59F4CF}"/>
              </a:ext>
            </a:extLst>
          </p:cNvPr>
          <p:cNvGrpSpPr/>
          <p:nvPr/>
        </p:nvGrpSpPr>
        <p:grpSpPr>
          <a:xfrm>
            <a:off x="2936621" y="2127356"/>
            <a:ext cx="2864392" cy="864096"/>
            <a:chOff x="3212708" y="613222"/>
            <a:chExt cx="2624847" cy="864096"/>
          </a:xfrm>
        </p:grpSpPr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04A9347F-F60F-D610-017A-A80D77A9CEB3}"/>
                </a:ext>
              </a:extLst>
            </p:cNvPr>
            <p:cNvSpPr/>
            <p:nvPr/>
          </p:nvSpPr>
          <p:spPr bwMode="auto">
            <a:xfrm>
              <a:off x="3212708" y="613222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25064D8F-2A46-FDA4-D0B4-49B46D405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6B7C0B2A-6DE7-82DD-8F66-7AC5CD6FA025}"/>
              </a:ext>
            </a:extLst>
          </p:cNvPr>
          <p:cNvGrpSpPr/>
          <p:nvPr/>
        </p:nvGrpSpPr>
        <p:grpSpPr>
          <a:xfrm>
            <a:off x="4505304" y="5833739"/>
            <a:ext cx="1892647" cy="864096"/>
            <a:chOff x="728856" y="1657415"/>
            <a:chExt cx="1892647" cy="864096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F1C0B93C-1ECE-7B53-2CE9-77E6C663CA7E}"/>
                </a:ext>
              </a:extLst>
            </p:cNvPr>
            <p:cNvSpPr/>
            <p:nvPr/>
          </p:nvSpPr>
          <p:spPr bwMode="auto">
            <a:xfrm>
              <a:off x="728856" y="1657415"/>
              <a:ext cx="18926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Redis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161CF24F-87ED-038D-58B3-848C32382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6600" y="1804435"/>
              <a:ext cx="678973" cy="575838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F386D569-1FB5-C6F1-A7EA-117C361129F7}"/>
              </a:ext>
            </a:extLst>
          </p:cNvPr>
          <p:cNvGrpSpPr/>
          <p:nvPr/>
        </p:nvGrpSpPr>
        <p:grpSpPr>
          <a:xfrm>
            <a:off x="197927" y="5814304"/>
            <a:ext cx="2207025" cy="864096"/>
            <a:chOff x="670927" y="4369958"/>
            <a:chExt cx="2109352" cy="864096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F32C075F-6440-A490-C99F-6CB8390B6A14}"/>
                </a:ext>
              </a:extLst>
            </p:cNvPr>
            <p:cNvSpPr/>
            <p:nvPr/>
          </p:nvSpPr>
          <p:spPr bwMode="auto">
            <a:xfrm>
              <a:off x="670927" y="4369958"/>
              <a:ext cx="210935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Keycloak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6B535644-0139-AF58-7734-B73AD7BD9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0927" y="4469040"/>
              <a:ext cx="688698" cy="665931"/>
            </a:xfrm>
            <a:prstGeom prst="rect">
              <a:avLst/>
            </a:prstGeom>
          </p:spPr>
        </p:pic>
      </p:grp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263DFD45-40D5-8D6D-DEA6-E896104E3C6F}"/>
              </a:ext>
            </a:extLst>
          </p:cNvPr>
          <p:cNvCxnSpPr>
            <a:cxnSpLocks/>
            <a:stCxn id="9" idx="3"/>
            <a:endCxn id="27" idx="1"/>
          </p:cNvCxnSpPr>
          <p:nvPr/>
        </p:nvCxnSpPr>
        <p:spPr>
          <a:xfrm flipV="1">
            <a:off x="2431815" y="1462284"/>
            <a:ext cx="471088" cy="222352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6E05DE2D-905D-6F4B-DF0D-D8828940AB4C}"/>
              </a:ext>
            </a:extLst>
          </p:cNvPr>
          <p:cNvCxnSpPr>
            <a:cxnSpLocks/>
            <a:stCxn id="9" idx="3"/>
            <a:endCxn id="33" idx="1"/>
          </p:cNvCxnSpPr>
          <p:nvPr/>
        </p:nvCxnSpPr>
        <p:spPr>
          <a:xfrm flipV="1">
            <a:off x="2431815" y="2559404"/>
            <a:ext cx="504806" cy="112640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8D613231-7CF4-1734-14AD-2222DBD247CB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431815" y="3685810"/>
            <a:ext cx="504806" cy="69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D70E60BF-3065-8E26-BBFB-AB78E98A896F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5805557" y="3686508"/>
            <a:ext cx="757542" cy="21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A8ED21C-E296-D5FB-F53F-C06EBA44F021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 flipV="1">
            <a:off x="8382935" y="3673779"/>
            <a:ext cx="925242" cy="149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F318B1C1-DB6D-5228-853A-FBCDD0CE8497}"/>
              </a:ext>
            </a:extLst>
          </p:cNvPr>
          <p:cNvCxnSpPr>
            <a:cxnSpLocks/>
            <a:stCxn id="12" idx="2"/>
            <a:endCxn id="30" idx="1"/>
          </p:cNvCxnSpPr>
          <p:nvPr/>
        </p:nvCxnSpPr>
        <p:spPr>
          <a:xfrm rot="16200000" flipH="1">
            <a:off x="4790494" y="3699150"/>
            <a:ext cx="657066" cy="149587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13249C25-D774-E6AF-E1BD-B03C1A41D8EB}"/>
              </a:ext>
            </a:extLst>
          </p:cNvPr>
          <p:cNvCxnSpPr>
            <a:cxnSpLocks/>
            <a:stCxn id="24" idx="2"/>
            <a:endCxn id="30" idx="3"/>
          </p:cNvCxnSpPr>
          <p:nvPr/>
        </p:nvCxnSpPr>
        <p:spPr>
          <a:xfrm rot="5400000">
            <a:off x="8760876" y="2915896"/>
            <a:ext cx="669795" cy="304965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: уступ 47">
            <a:extLst>
              <a:ext uri="{FF2B5EF4-FFF2-40B4-BE49-F238E27FC236}">
                <a16:creationId xmlns:a16="http://schemas.microsoft.com/office/drawing/2014/main" id="{9728FA7E-C9D8-11C6-F430-5839D1BF0A2E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5400000">
            <a:off x="3039799" y="4519586"/>
            <a:ext cx="1732320" cy="93026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E4AD4CE9-6F66-1154-A371-E9EEDB33D522}"/>
              </a:ext>
            </a:extLst>
          </p:cNvPr>
          <p:cNvCxnSpPr>
            <a:cxnSpLocks/>
            <a:stCxn id="9" idx="2"/>
            <a:endCxn id="39" idx="0"/>
          </p:cNvCxnSpPr>
          <p:nvPr/>
        </p:nvCxnSpPr>
        <p:spPr>
          <a:xfrm rot="16200000" flipH="1">
            <a:off x="439890" y="4952754"/>
            <a:ext cx="1696446" cy="2665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уступ 49">
            <a:extLst>
              <a:ext uri="{FF2B5EF4-FFF2-40B4-BE49-F238E27FC236}">
                <a16:creationId xmlns:a16="http://schemas.microsoft.com/office/drawing/2014/main" id="{EB37C1EB-8952-E240-DE51-18C68C92BE73}"/>
              </a:ext>
            </a:extLst>
          </p:cNvPr>
          <p:cNvCxnSpPr>
            <a:cxnSpLocks/>
            <a:stCxn id="12" idx="2"/>
            <a:endCxn id="39" idx="0"/>
          </p:cNvCxnSpPr>
          <p:nvPr/>
        </p:nvCxnSpPr>
        <p:spPr>
          <a:xfrm rot="5400000">
            <a:off x="1988391" y="3431606"/>
            <a:ext cx="1695748" cy="306964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0F0B1941-34DA-CE9B-4252-007D5EFD5979}"/>
              </a:ext>
            </a:extLst>
          </p:cNvPr>
          <p:cNvCxnSpPr>
            <a:cxnSpLocks/>
            <a:stCxn id="24" idx="0"/>
            <a:endCxn id="21" idx="2"/>
          </p:cNvCxnSpPr>
          <p:nvPr/>
        </p:nvCxnSpPr>
        <p:spPr>
          <a:xfrm rot="16200000" flipV="1">
            <a:off x="9673972" y="2295101"/>
            <a:ext cx="984426" cy="9088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: уступ 51">
            <a:extLst>
              <a:ext uri="{FF2B5EF4-FFF2-40B4-BE49-F238E27FC236}">
                <a16:creationId xmlns:a16="http://schemas.microsoft.com/office/drawing/2014/main" id="{DFBAB5FF-AF31-F7F2-4654-EC2D79670F14}"/>
              </a:ext>
            </a:extLst>
          </p:cNvPr>
          <p:cNvCxnSpPr>
            <a:cxnSpLocks/>
            <a:stCxn id="27" idx="3"/>
            <a:endCxn id="21" idx="1"/>
          </p:cNvCxnSpPr>
          <p:nvPr/>
        </p:nvCxnSpPr>
        <p:spPr>
          <a:xfrm>
            <a:off x="5676974" y="1462284"/>
            <a:ext cx="2545162" cy="36297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Соединитель: уступ 52">
            <a:extLst>
              <a:ext uri="{FF2B5EF4-FFF2-40B4-BE49-F238E27FC236}">
                <a16:creationId xmlns:a16="http://schemas.microsoft.com/office/drawing/2014/main" id="{D8B305FA-1D5C-EAAE-83C1-9BFDD1CF225F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 flipV="1">
            <a:off x="5801013" y="1825257"/>
            <a:ext cx="2421123" cy="73414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3D55672C-BE64-E0BA-E3AF-CAF19A1E5518}"/>
              </a:ext>
            </a:extLst>
          </p:cNvPr>
          <p:cNvCxnSpPr>
            <a:cxnSpLocks/>
            <a:stCxn id="12" idx="2"/>
            <a:endCxn id="36" idx="0"/>
          </p:cNvCxnSpPr>
          <p:nvPr/>
        </p:nvCxnSpPr>
        <p:spPr>
          <a:xfrm rot="16200000" flipH="1">
            <a:off x="4053767" y="4435877"/>
            <a:ext cx="1715183" cy="108053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F1709C9C-B785-5384-DD76-52FB1A6986BD}"/>
              </a:ext>
            </a:extLst>
          </p:cNvPr>
          <p:cNvGrpSpPr/>
          <p:nvPr/>
        </p:nvGrpSpPr>
        <p:grpSpPr>
          <a:xfrm>
            <a:off x="9387236" y="3313168"/>
            <a:ext cx="2624847" cy="864096"/>
            <a:chOff x="5062312" y="2308196"/>
            <a:chExt cx="2624847" cy="864096"/>
          </a:xfrm>
        </p:grpSpPr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5747276A-EDC6-9367-D60D-F5E581B9950A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7" name="Picture 10">
              <a:extLst>
                <a:ext uri="{FF2B5EF4-FFF2-40B4-BE49-F238E27FC236}">
                  <a16:creationId xmlns:a16="http://schemas.microsoft.com/office/drawing/2014/main" id="{AA0838E0-935A-FE31-A6B2-309488CD0D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7AE72A24-FE07-83C2-90B6-FAAD10D0213B}"/>
              </a:ext>
            </a:extLst>
          </p:cNvPr>
          <p:cNvGrpSpPr/>
          <p:nvPr/>
        </p:nvGrpSpPr>
        <p:grpSpPr>
          <a:xfrm>
            <a:off x="9479876" y="3392562"/>
            <a:ext cx="2624847" cy="864096"/>
            <a:chOff x="5062312" y="2308196"/>
            <a:chExt cx="2624847" cy="864096"/>
          </a:xfrm>
        </p:grpSpPr>
        <p:sp>
          <p:nvSpPr>
            <p:cNvPr id="59" name="Прямоугольник: скругленные углы 58">
              <a:extLst>
                <a:ext uri="{FF2B5EF4-FFF2-40B4-BE49-F238E27FC236}">
                  <a16:creationId xmlns:a16="http://schemas.microsoft.com/office/drawing/2014/main" id="{18C15818-8A9E-654A-82A2-92D43E063212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0" name="Picture 10">
              <a:extLst>
                <a:ext uri="{FF2B5EF4-FFF2-40B4-BE49-F238E27FC236}">
                  <a16:creationId xmlns:a16="http://schemas.microsoft.com/office/drawing/2014/main" id="{3F463544-093E-72A5-EC63-6006C9661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430C7246-A1D7-566A-90D3-530A47CC1D00}"/>
              </a:ext>
            </a:extLst>
          </p:cNvPr>
          <p:cNvGrpSpPr/>
          <p:nvPr/>
        </p:nvGrpSpPr>
        <p:grpSpPr>
          <a:xfrm>
            <a:off x="2992900" y="3316150"/>
            <a:ext cx="2868936" cy="864096"/>
            <a:chOff x="5142282" y="2340357"/>
            <a:chExt cx="2692282" cy="864096"/>
          </a:xfrm>
        </p:grpSpPr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39243D19-8BB0-03F6-15B3-62C300A9C23D}"/>
                </a:ext>
              </a:extLst>
            </p:cNvPr>
            <p:cNvSpPr/>
            <p:nvPr/>
          </p:nvSpPr>
          <p:spPr bwMode="auto">
            <a:xfrm>
              <a:off x="5142282" y="2340357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3" name="Picture 12">
              <a:extLst>
                <a:ext uri="{FF2B5EF4-FFF2-40B4-BE49-F238E27FC236}">
                  <a16:creationId xmlns:a16="http://schemas.microsoft.com/office/drawing/2014/main" id="{F898A3A6-E008-71B6-61C0-2DA09EC067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952" y="2557823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A4D66F1B-EB2B-E436-B5C6-11BCA03402A1}"/>
              </a:ext>
            </a:extLst>
          </p:cNvPr>
          <p:cNvGrpSpPr/>
          <p:nvPr/>
        </p:nvGrpSpPr>
        <p:grpSpPr>
          <a:xfrm>
            <a:off x="3076605" y="3397390"/>
            <a:ext cx="2868936" cy="864096"/>
            <a:chOff x="5142282" y="2340357"/>
            <a:chExt cx="2692282" cy="864096"/>
          </a:xfrm>
        </p:grpSpPr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76CE3B3C-200F-8C88-E553-E79FE4266379}"/>
                </a:ext>
              </a:extLst>
            </p:cNvPr>
            <p:cNvSpPr/>
            <p:nvPr/>
          </p:nvSpPr>
          <p:spPr bwMode="auto">
            <a:xfrm>
              <a:off x="5142282" y="2340357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6" name="Picture 12">
              <a:extLst>
                <a:ext uri="{FF2B5EF4-FFF2-40B4-BE49-F238E27FC236}">
                  <a16:creationId xmlns:a16="http://schemas.microsoft.com/office/drawing/2014/main" id="{7C9D1571-7E38-5520-F02D-A1CD6533F0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953" y="2557823"/>
              <a:ext cx="515045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A55B30DB-0C69-4B99-9CFB-220DC2F1630C}"/>
              </a:ext>
            </a:extLst>
          </p:cNvPr>
          <p:cNvGrpSpPr/>
          <p:nvPr/>
        </p:nvGrpSpPr>
        <p:grpSpPr>
          <a:xfrm>
            <a:off x="2983370" y="2185837"/>
            <a:ext cx="2864392" cy="864096"/>
            <a:chOff x="3212708" y="613222"/>
            <a:chExt cx="2624847" cy="864096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76C7D3BD-53BB-46BB-BC0A-71F84C554CDA}"/>
                </a:ext>
              </a:extLst>
            </p:cNvPr>
            <p:cNvSpPr/>
            <p:nvPr/>
          </p:nvSpPr>
          <p:spPr bwMode="auto">
            <a:xfrm>
              <a:off x="3212708" y="613222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0F9C6D1B-1EA7-9FF9-E247-EC28B3047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EBC922FF-0D65-492E-6923-13273098171B}"/>
              </a:ext>
            </a:extLst>
          </p:cNvPr>
          <p:cNvGrpSpPr/>
          <p:nvPr/>
        </p:nvGrpSpPr>
        <p:grpSpPr>
          <a:xfrm>
            <a:off x="3048994" y="2257186"/>
            <a:ext cx="2864392" cy="864096"/>
            <a:chOff x="3212708" y="613222"/>
            <a:chExt cx="2864392" cy="864096"/>
          </a:xfrm>
        </p:grpSpPr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46C97EB5-1565-3FBA-880B-88341D7421EB}"/>
                </a:ext>
              </a:extLst>
            </p:cNvPr>
            <p:cNvSpPr/>
            <p:nvPr/>
          </p:nvSpPr>
          <p:spPr bwMode="auto">
            <a:xfrm>
              <a:off x="3212708" y="613222"/>
              <a:ext cx="286439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2" name="Рисунок 71">
              <a:extLst>
                <a:ext uri="{FF2B5EF4-FFF2-40B4-BE49-F238E27FC236}">
                  <a16:creationId xmlns:a16="http://schemas.microsoft.com/office/drawing/2014/main" id="{2C7636E1-6BAC-F0B5-9371-BF3AAC7B3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1F5087CC-CBFD-19B1-A8ED-4A94C518B24D}"/>
              </a:ext>
            </a:extLst>
          </p:cNvPr>
          <p:cNvGrpSpPr/>
          <p:nvPr/>
        </p:nvGrpSpPr>
        <p:grpSpPr>
          <a:xfrm>
            <a:off x="2980130" y="1108449"/>
            <a:ext cx="2740416" cy="864096"/>
            <a:chOff x="5062312" y="2308196"/>
            <a:chExt cx="2624847" cy="864096"/>
          </a:xfrm>
        </p:grpSpPr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1D240B8B-A267-B69E-3A7A-44204C0356AA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Task-Runner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5" name="Picture 10">
              <a:extLst>
                <a:ext uri="{FF2B5EF4-FFF2-40B4-BE49-F238E27FC236}">
                  <a16:creationId xmlns:a16="http://schemas.microsoft.com/office/drawing/2014/main" id="{78A1C761-3566-F6B4-39CF-1642645EF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790E1405-B9C5-2381-EDC1-AA5C7F90D5C7}"/>
              </a:ext>
            </a:extLst>
          </p:cNvPr>
          <p:cNvGrpSpPr/>
          <p:nvPr/>
        </p:nvGrpSpPr>
        <p:grpSpPr>
          <a:xfrm>
            <a:off x="3055173" y="1178722"/>
            <a:ext cx="2694386" cy="864096"/>
            <a:chOff x="5062312" y="2308196"/>
            <a:chExt cx="2694386" cy="864096"/>
          </a:xfrm>
        </p:grpSpPr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4578B64E-1514-AAFB-E6B8-299192FC58E2}"/>
                </a:ext>
              </a:extLst>
            </p:cNvPr>
            <p:cNvSpPr/>
            <p:nvPr/>
          </p:nvSpPr>
          <p:spPr bwMode="auto">
            <a:xfrm>
              <a:off x="5062312" y="2308196"/>
              <a:ext cx="269438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Task-Runner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8" name="Picture 10">
              <a:extLst>
                <a:ext uri="{FF2B5EF4-FFF2-40B4-BE49-F238E27FC236}">
                  <a16:creationId xmlns:a16="http://schemas.microsoft.com/office/drawing/2014/main" id="{0210C7F5-879A-A674-17DD-25D2F0210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162A3EAA-607A-1FE4-1DF5-F6BBAA644DC4}"/>
              </a:ext>
            </a:extLst>
          </p:cNvPr>
          <p:cNvGrpSpPr/>
          <p:nvPr/>
        </p:nvGrpSpPr>
        <p:grpSpPr>
          <a:xfrm>
            <a:off x="7815504" y="5896780"/>
            <a:ext cx="1407086" cy="784289"/>
            <a:chOff x="8519697" y="5894558"/>
            <a:chExt cx="1407086" cy="784289"/>
          </a:xfrm>
        </p:grpSpPr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503E4A57-61A6-62C5-7BE3-4A34C35F5CBD}"/>
                </a:ext>
              </a:extLst>
            </p:cNvPr>
            <p:cNvSpPr/>
            <p:nvPr/>
          </p:nvSpPr>
          <p:spPr bwMode="auto">
            <a:xfrm>
              <a:off x="8519697" y="5894558"/>
              <a:ext cx="1407086" cy="78428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Loki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5B2F26FA-DD89-55E2-336B-FEFCBB886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34246" y="5992773"/>
              <a:ext cx="447290" cy="508054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AA423F21-71FD-3C03-7E1A-8678DAC5097B}"/>
              </a:ext>
            </a:extLst>
          </p:cNvPr>
          <p:cNvGrpSpPr/>
          <p:nvPr/>
        </p:nvGrpSpPr>
        <p:grpSpPr>
          <a:xfrm>
            <a:off x="10093012" y="5030320"/>
            <a:ext cx="1840012" cy="724841"/>
            <a:chOff x="8788562" y="4833171"/>
            <a:chExt cx="1840012" cy="724841"/>
          </a:xfrm>
        </p:grpSpPr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8D866A38-121B-B9E2-A36F-FE46E6B4375E}"/>
                </a:ext>
              </a:extLst>
            </p:cNvPr>
            <p:cNvSpPr/>
            <p:nvPr/>
          </p:nvSpPr>
          <p:spPr bwMode="auto">
            <a:xfrm>
              <a:off x="8788562" y="4833171"/>
              <a:ext cx="1840012" cy="7248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Tempo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4" name="Рисунок 83">
              <a:extLst>
                <a:ext uri="{FF2B5EF4-FFF2-40B4-BE49-F238E27FC236}">
                  <a16:creationId xmlns:a16="http://schemas.microsoft.com/office/drawing/2014/main" id="{50B9513D-4545-E1E6-B439-7A7EABF59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83668" y="4981113"/>
              <a:ext cx="488018" cy="428959"/>
            </a:xfrm>
            <a:prstGeom prst="rect">
              <a:avLst/>
            </a:prstGeom>
          </p:spPr>
        </p:pic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E988E09B-1935-F9F5-698D-2AB3DA74BFD0}"/>
              </a:ext>
            </a:extLst>
          </p:cNvPr>
          <p:cNvGrpSpPr/>
          <p:nvPr/>
        </p:nvGrpSpPr>
        <p:grpSpPr>
          <a:xfrm>
            <a:off x="9371685" y="5896780"/>
            <a:ext cx="2640397" cy="777664"/>
            <a:chOff x="7308225" y="4743052"/>
            <a:chExt cx="2640397" cy="777664"/>
          </a:xfrm>
        </p:grpSpPr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D548B636-0D00-9777-E078-A8DB082E9180}"/>
                </a:ext>
              </a:extLst>
            </p:cNvPr>
            <p:cNvSpPr/>
            <p:nvPr/>
          </p:nvSpPr>
          <p:spPr bwMode="auto">
            <a:xfrm>
              <a:off x="7308225" y="4743052"/>
              <a:ext cx="2640397" cy="777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Prometheus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1581EECB-F89B-2349-04D9-51CE46F63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394490" y="4831551"/>
              <a:ext cx="643035" cy="633978"/>
            </a:xfrm>
            <a:prstGeom prst="rect">
              <a:avLst/>
            </a:prstGeom>
          </p:spPr>
        </p:pic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9B717F4E-F605-E0FE-D4D1-18C9FEB8FD57}"/>
              </a:ext>
            </a:extLst>
          </p:cNvPr>
          <p:cNvGrpSpPr/>
          <p:nvPr/>
        </p:nvGrpSpPr>
        <p:grpSpPr>
          <a:xfrm>
            <a:off x="20438" y="1263260"/>
            <a:ext cx="2509147" cy="864096"/>
            <a:chOff x="69206" y="1074898"/>
            <a:chExt cx="2509147" cy="864096"/>
          </a:xfrm>
        </p:grpSpPr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D58D0E62-BAF1-61AD-040F-B191CA679510}"/>
                </a:ext>
              </a:extLst>
            </p:cNvPr>
            <p:cNvSpPr/>
            <p:nvPr/>
          </p:nvSpPr>
          <p:spPr bwMode="auto">
            <a:xfrm>
              <a:off x="69206" y="1074898"/>
              <a:ext cx="25091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MCP Server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0" name="Рисунок 89" descr="Picture background">
              <a:extLst>
                <a:ext uri="{FF2B5EF4-FFF2-40B4-BE49-F238E27FC236}">
                  <a16:creationId xmlns:a16="http://schemas.microsoft.com/office/drawing/2014/main" id="{E4205011-74E5-81E7-BD2D-17C3AFBF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4881" y="1274912"/>
              <a:ext cx="464068" cy="464068"/>
            </a:xfrm>
            <a:prstGeom prst="rect">
              <a:avLst/>
            </a:prstGeom>
          </p:spPr>
        </p:pic>
      </p:grp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DA756311-33E6-BFE2-5B9B-FDF768000799}"/>
              </a:ext>
            </a:extLst>
          </p:cNvPr>
          <p:cNvCxnSpPr>
            <a:cxnSpLocks/>
            <a:stCxn id="9" idx="0"/>
            <a:endCxn id="89" idx="2"/>
          </p:cNvCxnSpPr>
          <p:nvPr/>
        </p:nvCxnSpPr>
        <p:spPr>
          <a:xfrm flipV="1">
            <a:off x="1274786" y="2127356"/>
            <a:ext cx="226" cy="112640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01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B2730-8655-67F9-117D-1FC02D76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66" y="0"/>
            <a:ext cx="5645120" cy="775162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Проверка решений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E2A69-93C2-35CA-4933-B782BEA0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3B983F2-8860-EC17-3A44-DAFD91FA5F7C}"/>
              </a:ext>
            </a:extLst>
          </p:cNvPr>
          <p:cNvGrpSpPr/>
          <p:nvPr/>
        </p:nvGrpSpPr>
        <p:grpSpPr>
          <a:xfrm>
            <a:off x="7057" y="1754229"/>
            <a:ext cx="2141783" cy="864096"/>
            <a:chOff x="845489" y="2278198"/>
            <a:chExt cx="2141783" cy="8640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F52BE897-A5FF-4349-763C-9EFFBB1534A6}"/>
                </a:ext>
              </a:extLst>
            </p:cNvPr>
            <p:cNvSpPr/>
            <p:nvPr/>
          </p:nvSpPr>
          <p:spPr bwMode="auto">
            <a:xfrm>
              <a:off x="876403" y="2278198"/>
              <a:ext cx="211086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14720F94-B15F-3744-52B8-9812C12A7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89" y="2457605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0C608BD-D059-C009-8DF9-76A0EFE53E9B}"/>
              </a:ext>
            </a:extLst>
          </p:cNvPr>
          <p:cNvGrpSpPr/>
          <p:nvPr/>
        </p:nvGrpSpPr>
        <p:grpSpPr>
          <a:xfrm>
            <a:off x="6588888" y="1776073"/>
            <a:ext cx="1819836" cy="864096"/>
            <a:chOff x="4928918" y="2270225"/>
            <a:chExt cx="1819836" cy="864096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FF2A5522-0FAB-1CCD-CBD1-5B7B01D2C9CE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Kafka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BF4C85BB-7E1D-FB8A-5474-91ADBFDB4C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A3E7512-F0F5-F6EC-4AC6-6A6E88CF5578}"/>
              </a:ext>
            </a:extLst>
          </p:cNvPr>
          <p:cNvGrpSpPr/>
          <p:nvPr/>
        </p:nvGrpSpPr>
        <p:grpSpPr>
          <a:xfrm>
            <a:off x="6588888" y="4969873"/>
            <a:ext cx="1773558" cy="864096"/>
            <a:chOff x="5028015" y="4936300"/>
            <a:chExt cx="1703979" cy="864096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061D3D57-9334-CE9F-91C6-2FAB28D26FCE}"/>
                </a:ext>
              </a:extLst>
            </p:cNvPr>
            <p:cNvSpPr/>
            <p:nvPr/>
          </p:nvSpPr>
          <p:spPr bwMode="auto">
            <a:xfrm>
              <a:off x="5028015" y="4936300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>
                  <a:latin typeface="Arial" panose="020B0604020202020204" pitchFamily="34" charset="0"/>
                  <a:cs typeface="Arial" panose="020B0604020202020204" pitchFamily="34" charset="0"/>
                </a:rPr>
                <a:t>СУБД</a:t>
              </a: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D55ADA00-78B9-058F-40BD-B09A1E775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1861" y="5036938"/>
              <a:ext cx="715659" cy="71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9C47F03-E3DD-8F0D-0950-BFBBA803074F}"/>
              </a:ext>
            </a:extLst>
          </p:cNvPr>
          <p:cNvGrpSpPr/>
          <p:nvPr/>
        </p:nvGrpSpPr>
        <p:grpSpPr>
          <a:xfrm>
            <a:off x="9298887" y="1763662"/>
            <a:ext cx="2624847" cy="864096"/>
            <a:chOff x="5062312" y="2308196"/>
            <a:chExt cx="2624847" cy="864096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EEA9B42C-4045-0AA8-8715-F5B3C8C823A7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Picture 10">
              <a:extLst>
                <a:ext uri="{FF2B5EF4-FFF2-40B4-BE49-F238E27FC236}">
                  <a16:creationId xmlns:a16="http://schemas.microsoft.com/office/drawing/2014/main" id="{81366A7C-694A-6559-0248-4CCBFE3F0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3D3DB49-80AE-E374-F742-4B99C1BC3372}"/>
              </a:ext>
            </a:extLst>
          </p:cNvPr>
          <p:cNvGrpSpPr/>
          <p:nvPr/>
        </p:nvGrpSpPr>
        <p:grpSpPr>
          <a:xfrm>
            <a:off x="6588888" y="2881264"/>
            <a:ext cx="1703979" cy="893846"/>
            <a:chOff x="5498577" y="4740164"/>
            <a:chExt cx="1703979" cy="893846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D15BFA20-9276-8C5F-B945-B12CD8E17691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MinIO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2" descr="Picture background">
              <a:extLst>
                <a:ext uri="{FF2B5EF4-FFF2-40B4-BE49-F238E27FC236}">
                  <a16:creationId xmlns:a16="http://schemas.microsoft.com/office/drawing/2014/main" id="{4F9D58FB-E011-9409-8933-D6051031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A6E81231-E733-A4A5-1CF6-85FE0CF51CF2}"/>
              </a:ext>
            </a:extLst>
          </p:cNvPr>
          <p:cNvGrpSpPr/>
          <p:nvPr/>
        </p:nvGrpSpPr>
        <p:grpSpPr>
          <a:xfrm>
            <a:off x="6588888" y="3958757"/>
            <a:ext cx="1892647" cy="864096"/>
            <a:chOff x="728856" y="1657415"/>
            <a:chExt cx="1892647" cy="864096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F0FB3045-3CA0-36D0-2AD1-292F67068521}"/>
                </a:ext>
              </a:extLst>
            </p:cNvPr>
            <p:cNvSpPr/>
            <p:nvPr/>
          </p:nvSpPr>
          <p:spPr bwMode="auto">
            <a:xfrm>
              <a:off x="728856" y="1657415"/>
              <a:ext cx="18926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Redis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AB24999F-BCAE-BDB1-C31C-C70E28A85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6600" y="1804435"/>
              <a:ext cx="678973" cy="575838"/>
            </a:xfrm>
            <a:prstGeom prst="rect">
              <a:avLst/>
            </a:prstGeom>
          </p:spPr>
        </p:pic>
      </p:grp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F171A938-C2DE-0614-8B46-B42FA225333C}"/>
              </a:ext>
            </a:extLst>
          </p:cNvPr>
          <p:cNvCxnSpPr>
            <a:cxnSpLocks/>
            <a:stCxn id="9" idx="3"/>
            <a:endCxn id="97" idx="1"/>
          </p:cNvCxnSpPr>
          <p:nvPr/>
        </p:nvCxnSpPr>
        <p:spPr>
          <a:xfrm flipV="1">
            <a:off x="2148840" y="2185353"/>
            <a:ext cx="509585" cy="92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F2DAF932-C07B-F311-35F2-72AE55260FA4}"/>
              </a:ext>
            </a:extLst>
          </p:cNvPr>
          <p:cNvCxnSpPr>
            <a:cxnSpLocks/>
            <a:stCxn id="63" idx="3"/>
            <a:endCxn id="15" idx="1"/>
          </p:cNvCxnSpPr>
          <p:nvPr/>
        </p:nvCxnSpPr>
        <p:spPr>
          <a:xfrm flipV="1">
            <a:off x="5837155" y="2208121"/>
            <a:ext cx="751733" cy="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2454422-7CE8-20F7-A969-824E2D6E1D18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8408724" y="2195710"/>
            <a:ext cx="890163" cy="124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B9B98DCB-08E6-37C2-CD9B-02C54BD72C9E}"/>
              </a:ext>
            </a:extLst>
          </p:cNvPr>
          <p:cNvCxnSpPr>
            <a:cxnSpLocks/>
            <a:stCxn id="96" idx="3"/>
            <a:endCxn id="24" idx="1"/>
          </p:cNvCxnSpPr>
          <p:nvPr/>
        </p:nvCxnSpPr>
        <p:spPr>
          <a:xfrm>
            <a:off x="5858538" y="2185353"/>
            <a:ext cx="730350" cy="115770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D5EE38DD-9F01-6576-382B-3EFB02BE50D4}"/>
              </a:ext>
            </a:extLst>
          </p:cNvPr>
          <p:cNvCxnSpPr>
            <a:cxnSpLocks/>
            <a:stCxn id="21" idx="1"/>
            <a:endCxn id="24" idx="3"/>
          </p:cNvCxnSpPr>
          <p:nvPr/>
        </p:nvCxnSpPr>
        <p:spPr>
          <a:xfrm rot="10800000" flipV="1">
            <a:off x="8292867" y="2195710"/>
            <a:ext cx="1006020" cy="114735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AE988C8C-A8CC-C03B-EEA7-16BACD8CFD1D}"/>
              </a:ext>
            </a:extLst>
          </p:cNvPr>
          <p:cNvCxnSpPr>
            <a:cxnSpLocks/>
            <a:stCxn id="79" idx="3"/>
            <a:endCxn id="18" idx="1"/>
          </p:cNvCxnSpPr>
          <p:nvPr/>
        </p:nvCxnSpPr>
        <p:spPr>
          <a:xfrm>
            <a:off x="5837157" y="3343062"/>
            <a:ext cx="751731" cy="205885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: уступ 39">
            <a:extLst>
              <a:ext uri="{FF2B5EF4-FFF2-40B4-BE49-F238E27FC236}">
                <a16:creationId xmlns:a16="http://schemas.microsoft.com/office/drawing/2014/main" id="{00E065B4-208B-A7A0-FA5C-4A6E9E5CCCBB}"/>
              </a:ext>
            </a:extLst>
          </p:cNvPr>
          <p:cNvCxnSpPr>
            <a:cxnSpLocks/>
            <a:stCxn id="79" idx="3"/>
            <a:endCxn id="27" idx="1"/>
          </p:cNvCxnSpPr>
          <p:nvPr/>
        </p:nvCxnSpPr>
        <p:spPr>
          <a:xfrm>
            <a:off x="5837157" y="3343062"/>
            <a:ext cx="751731" cy="104774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96B87A6-AFCD-2362-6FF3-9CC7AD19F25C}"/>
              </a:ext>
            </a:extLst>
          </p:cNvPr>
          <p:cNvGrpSpPr/>
          <p:nvPr/>
        </p:nvGrpSpPr>
        <p:grpSpPr>
          <a:xfrm>
            <a:off x="9312561" y="810475"/>
            <a:ext cx="2624847" cy="864096"/>
            <a:chOff x="5062312" y="2308196"/>
            <a:chExt cx="2624847" cy="864096"/>
          </a:xfrm>
        </p:grpSpPr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BBB4CB51-78CC-F2AD-968B-8FC33EAA9EC9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Picture 10">
              <a:extLst>
                <a:ext uri="{FF2B5EF4-FFF2-40B4-BE49-F238E27FC236}">
                  <a16:creationId xmlns:a16="http://schemas.microsoft.com/office/drawing/2014/main" id="{D033C2D8-2A96-5088-8E41-011D302C1D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D146263F-50F0-1ADC-C96D-360B5F5395C7}"/>
              </a:ext>
            </a:extLst>
          </p:cNvPr>
          <p:cNvGrpSpPr/>
          <p:nvPr/>
        </p:nvGrpSpPr>
        <p:grpSpPr>
          <a:xfrm>
            <a:off x="2628901" y="2911014"/>
            <a:ext cx="3208256" cy="864096"/>
            <a:chOff x="4824763" y="1147530"/>
            <a:chExt cx="3010708" cy="864096"/>
          </a:xfrm>
        </p:grpSpPr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879B5B3B-4941-3F2F-368A-8E4DEBEB40D3}"/>
                </a:ext>
              </a:extLst>
            </p:cNvPr>
            <p:cNvSpPr/>
            <p:nvPr/>
          </p:nvSpPr>
          <p:spPr bwMode="auto">
            <a:xfrm>
              <a:off x="4824763" y="1147530"/>
              <a:ext cx="301070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 (2)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" name="Picture 12">
              <a:extLst>
                <a:ext uri="{FF2B5EF4-FFF2-40B4-BE49-F238E27FC236}">
                  <a16:creationId xmlns:a16="http://schemas.microsoft.com/office/drawing/2014/main" id="{85D41EF4-9989-4606-2843-1F7367B45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7581" y="1362168"/>
              <a:ext cx="515045" cy="432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8" name="Соединитель: уступ 87">
            <a:extLst>
              <a:ext uri="{FF2B5EF4-FFF2-40B4-BE49-F238E27FC236}">
                <a16:creationId xmlns:a16="http://schemas.microsoft.com/office/drawing/2014/main" id="{9030A104-A990-6730-C5E9-74932DC2B64F}"/>
              </a:ext>
            </a:extLst>
          </p:cNvPr>
          <p:cNvCxnSpPr>
            <a:cxnSpLocks/>
            <a:stCxn id="15" idx="3"/>
            <a:endCxn id="42" idx="1"/>
          </p:cNvCxnSpPr>
          <p:nvPr/>
        </p:nvCxnSpPr>
        <p:spPr>
          <a:xfrm flipV="1">
            <a:off x="8408724" y="1242523"/>
            <a:ext cx="903837" cy="96559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F4D3C119-DF46-D11D-662D-32D91CAE6342}"/>
              </a:ext>
            </a:extLst>
          </p:cNvPr>
          <p:cNvGrpSpPr/>
          <p:nvPr/>
        </p:nvGrpSpPr>
        <p:grpSpPr>
          <a:xfrm>
            <a:off x="2650281" y="1753305"/>
            <a:ext cx="3208256" cy="864096"/>
            <a:chOff x="4910284" y="1146606"/>
            <a:chExt cx="3010708" cy="864096"/>
          </a:xfrm>
        </p:grpSpPr>
        <p:sp>
          <p:nvSpPr>
            <p:cNvPr id="96" name="Прямоугольник: скругленные углы 95">
              <a:extLst>
                <a:ext uri="{FF2B5EF4-FFF2-40B4-BE49-F238E27FC236}">
                  <a16:creationId xmlns:a16="http://schemas.microsoft.com/office/drawing/2014/main" id="{9C6F9466-3574-8CD7-FB9D-F62948E74BDF}"/>
                </a:ext>
              </a:extLst>
            </p:cNvPr>
            <p:cNvSpPr/>
            <p:nvPr/>
          </p:nvSpPr>
          <p:spPr bwMode="auto">
            <a:xfrm>
              <a:off x="4910284" y="1146606"/>
              <a:ext cx="301070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 (1)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" name="Picture 12">
              <a:extLst>
                <a:ext uri="{FF2B5EF4-FFF2-40B4-BE49-F238E27FC236}">
                  <a16:creationId xmlns:a16="http://schemas.microsoft.com/office/drawing/2014/main" id="{B69B2E67-C4DA-7369-3BAA-0175339FB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7927" y="1362168"/>
              <a:ext cx="515045" cy="432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C17A3D48-B055-AC56-3B24-8E67DBE7C8C5}"/>
              </a:ext>
            </a:extLst>
          </p:cNvPr>
          <p:cNvGrpSpPr/>
          <p:nvPr/>
        </p:nvGrpSpPr>
        <p:grpSpPr>
          <a:xfrm>
            <a:off x="9121678" y="3880632"/>
            <a:ext cx="2979263" cy="864096"/>
            <a:chOff x="8116466" y="210141"/>
            <a:chExt cx="2979263" cy="864096"/>
          </a:xfrm>
        </p:grpSpPr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9E442F85-7FC7-AED1-AD7B-17F9630CADDA}"/>
                </a:ext>
              </a:extLst>
            </p:cNvPr>
            <p:cNvSpPr/>
            <p:nvPr/>
          </p:nvSpPr>
          <p:spPr bwMode="auto">
            <a:xfrm>
              <a:off x="8116466" y="210141"/>
              <a:ext cx="2979263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 Container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7" name="Picture 8">
              <a:extLst>
                <a:ext uri="{FF2B5EF4-FFF2-40B4-BE49-F238E27FC236}">
                  <a16:creationId xmlns:a16="http://schemas.microsoft.com/office/drawing/2014/main" id="{D9D4F564-729F-C25D-68A6-F05B104780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0505" y="420708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400B2C70-57CD-E427-CE9A-5D6F02A26269}"/>
              </a:ext>
            </a:extLst>
          </p:cNvPr>
          <p:cNvCxnSpPr>
            <a:cxnSpLocks/>
          </p:cNvCxnSpPr>
          <p:nvPr/>
        </p:nvCxnSpPr>
        <p:spPr>
          <a:xfrm rot="5400000">
            <a:off x="9162850" y="3235329"/>
            <a:ext cx="1252874" cy="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Соединитель: уступ 2">
            <a:extLst>
              <a:ext uri="{FF2B5EF4-FFF2-40B4-BE49-F238E27FC236}">
                <a16:creationId xmlns:a16="http://schemas.microsoft.com/office/drawing/2014/main" id="{08AE3549-4AD2-5654-D4B0-0AA2AC3CAD9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793582" y="3231073"/>
            <a:ext cx="1244366" cy="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F4DF4E-B653-84CF-D7B1-CAE2FA86069B}"/>
              </a:ext>
            </a:extLst>
          </p:cNvPr>
          <p:cNvSpPr txBox="1"/>
          <p:nvPr/>
        </p:nvSpPr>
        <p:spPr>
          <a:xfrm>
            <a:off x="9780793" y="2678942"/>
            <a:ext cx="115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FF79AD-137E-8014-732A-45DED40D262B}"/>
              </a:ext>
            </a:extLst>
          </p:cNvPr>
          <p:cNvSpPr txBox="1"/>
          <p:nvPr/>
        </p:nvSpPr>
        <p:spPr>
          <a:xfrm>
            <a:off x="10695965" y="3492435"/>
            <a:ext cx="79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отчет</a:t>
            </a:r>
          </a:p>
        </p:txBody>
      </p:sp>
    </p:spTree>
    <p:extLst>
      <p:ext uri="{BB962C8B-B14F-4D97-AF65-F5344CB8AC3E}">
        <p14:creationId xmlns:p14="http://schemas.microsoft.com/office/powerpoint/2010/main" val="209668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72F9C-DC1F-D68C-E782-210F9CC3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66" y="0"/>
            <a:ext cx="10515600" cy="814388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Единый формат результата проверки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595529-9427-18B4-6ED9-FC58A8AB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F310A8C-5EAF-5907-46FD-4AAF392C11F0}"/>
              </a:ext>
            </a:extLst>
          </p:cNvPr>
          <p:cNvSpPr/>
          <p:nvPr/>
        </p:nvSpPr>
        <p:spPr>
          <a:xfrm>
            <a:off x="418866" y="1508760"/>
            <a:ext cx="3459714" cy="943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Тестовый фреймворк</a:t>
            </a:r>
          </a:p>
          <a:p>
            <a:pPr algn="ctr"/>
            <a:r>
              <a:rPr lang="en-US" sz="2400" dirty="0" err="1">
                <a:solidFill>
                  <a:schemeClr val="tx1"/>
                </a:solidFill>
              </a:rPr>
              <a:t>PyTest</a:t>
            </a:r>
            <a:r>
              <a:rPr lang="en-US" sz="2400" dirty="0">
                <a:solidFill>
                  <a:schemeClr val="tx1"/>
                </a:solidFill>
              </a:rPr>
              <a:t>/Junit/Jest/</a:t>
            </a:r>
            <a:r>
              <a:rPr lang="en-US" sz="2400" dirty="0" err="1">
                <a:solidFill>
                  <a:schemeClr val="tx1"/>
                </a:solidFill>
              </a:rPr>
              <a:t>Ctest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3735ED5-B522-DB7D-CF86-53B920CF8437}"/>
              </a:ext>
            </a:extLst>
          </p:cNvPr>
          <p:cNvSpPr/>
          <p:nvPr/>
        </p:nvSpPr>
        <p:spPr>
          <a:xfrm>
            <a:off x="418866" y="2606040"/>
            <a:ext cx="3459714" cy="943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Junit.xml </a:t>
            </a:r>
            <a:r>
              <a:rPr lang="ru-RU" sz="2400" dirty="0">
                <a:solidFill>
                  <a:schemeClr val="tx1"/>
                </a:solidFill>
              </a:rPr>
              <a:t>или любой другой формат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A2C6B51-73E1-6D88-EFA0-893F64EA58C2}"/>
              </a:ext>
            </a:extLst>
          </p:cNvPr>
          <p:cNvSpPr/>
          <p:nvPr/>
        </p:nvSpPr>
        <p:spPr>
          <a:xfrm>
            <a:off x="418866" y="3703320"/>
            <a:ext cx="3459714" cy="5029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LanguageTesterPlugin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AB05918-B9EE-970B-9AC2-ABEE8FBF9FB5}"/>
              </a:ext>
            </a:extLst>
          </p:cNvPr>
          <p:cNvSpPr/>
          <p:nvPr/>
        </p:nvSpPr>
        <p:spPr>
          <a:xfrm>
            <a:off x="418866" y="4360438"/>
            <a:ext cx="3459714" cy="5029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TestExecutionResult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7A8164C-15FD-012F-ADD9-4B4D13A9EF0B}"/>
              </a:ext>
            </a:extLst>
          </p:cNvPr>
          <p:cNvSpPr/>
          <p:nvPr/>
        </p:nvSpPr>
        <p:spPr>
          <a:xfrm>
            <a:off x="418866" y="5017556"/>
            <a:ext cx="3459714" cy="8879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Результат на </a:t>
            </a:r>
            <a:r>
              <a:rPr lang="en-US" sz="2400" dirty="0">
                <a:solidFill>
                  <a:schemeClr val="tx1"/>
                </a:solidFill>
              </a:rPr>
              <a:t>UI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4AC485-1B41-E33B-AA73-B27A91C3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491" y="1508760"/>
            <a:ext cx="4839375" cy="1695687"/>
          </a:xfrm>
          <a:prstGeom prst="rect">
            <a:avLst/>
          </a:prstGeom>
        </p:spPr>
      </p:pic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18FC21EC-5B23-9BEB-5CF6-18F21DBBFAAF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3878580" y="2356604"/>
            <a:ext cx="2065911" cy="72097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3365976-661D-DFD9-2167-62C176AAC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491" y="3535621"/>
            <a:ext cx="5058481" cy="838317"/>
          </a:xfrm>
          <a:prstGeom prst="rect">
            <a:avLst/>
          </a:prstGeom>
        </p:spPr>
      </p:pic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ABBEF3EF-8B34-D251-3D88-B35A60CD6EBB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3878580" y="3954780"/>
            <a:ext cx="2065911" cy="1270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1914D37-795F-D5F5-BD52-0E9BA5786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491" y="4538362"/>
            <a:ext cx="3915321" cy="1695687"/>
          </a:xfrm>
          <a:prstGeom prst="rect">
            <a:avLst/>
          </a:prstGeom>
        </p:spPr>
      </p:pic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4A8BD644-9230-1662-FE8E-47DFE2E4176C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>
            <a:off x="3878580" y="4611898"/>
            <a:ext cx="2065911" cy="77430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45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47C79-53E4-1776-75D8-C10D7550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33115"/>
            <a:ext cx="10515600" cy="730568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Конфигурация языков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902A40-897C-30F4-0937-FD9A0D62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CD54CA-E9C3-3425-19B8-6DC69898D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5" y="994326"/>
            <a:ext cx="7974001" cy="54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1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F34A3-92CA-A646-C526-8F813BCB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66" y="147561"/>
            <a:ext cx="10515600" cy="797319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Языковые сервера для редактора кода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CB9D82-8121-638E-69BB-76D5FFF6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9339FA2-007A-E787-0FC2-AE59C783892B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 flipV="1">
            <a:off x="2614891" y="3389460"/>
            <a:ext cx="1662233" cy="52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BE74EDB-4156-7EA4-FD49-A0648F956D44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7141516" y="3389460"/>
            <a:ext cx="168543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10A5FC-201C-03A4-5097-F447C4027BD7}"/>
              </a:ext>
            </a:extLst>
          </p:cNvPr>
          <p:cNvSpPr txBox="1"/>
          <p:nvPr/>
        </p:nvSpPr>
        <p:spPr>
          <a:xfrm>
            <a:off x="2705543" y="2918684"/>
            <a:ext cx="138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WebSocket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36859-DE6B-7534-DB00-C0ED7E601782}"/>
              </a:ext>
            </a:extLst>
          </p:cNvPr>
          <p:cNvSpPr txBox="1"/>
          <p:nvPr/>
        </p:nvSpPr>
        <p:spPr>
          <a:xfrm>
            <a:off x="7508293" y="2957412"/>
            <a:ext cx="95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STDIO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32357FC-965E-768C-CC18-0AA111C36395}"/>
              </a:ext>
            </a:extLst>
          </p:cNvPr>
          <p:cNvGrpSpPr/>
          <p:nvPr/>
        </p:nvGrpSpPr>
        <p:grpSpPr>
          <a:xfrm>
            <a:off x="300833" y="2962671"/>
            <a:ext cx="2314058" cy="864096"/>
            <a:chOff x="876403" y="2278198"/>
            <a:chExt cx="2314058" cy="864096"/>
          </a:xfrm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8CDE728A-468F-69FE-950C-CAD55128733D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3225A787-C361-8F8F-066E-8AC318D07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409" y="2457605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262B6D30-1BA1-6B09-F77D-6FF654C093F5}"/>
              </a:ext>
            </a:extLst>
          </p:cNvPr>
          <p:cNvGrpSpPr/>
          <p:nvPr/>
        </p:nvGrpSpPr>
        <p:grpSpPr>
          <a:xfrm>
            <a:off x="4277124" y="2957412"/>
            <a:ext cx="2864392" cy="864096"/>
            <a:chOff x="3212708" y="613222"/>
            <a:chExt cx="2864392" cy="864096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88225480-4F09-A57E-FADD-24D0F6B9ED41}"/>
                </a:ext>
              </a:extLst>
            </p:cNvPr>
            <p:cNvSpPr/>
            <p:nvPr/>
          </p:nvSpPr>
          <p:spPr bwMode="auto">
            <a:xfrm>
              <a:off x="3212708" y="613222"/>
              <a:ext cx="286439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3B4C273-B5C7-07E9-CFCB-24D5A09F4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8DDB4DB-3267-6595-5A65-B58D64A6D570}"/>
              </a:ext>
            </a:extLst>
          </p:cNvPr>
          <p:cNvGrpSpPr/>
          <p:nvPr/>
        </p:nvGrpSpPr>
        <p:grpSpPr>
          <a:xfrm>
            <a:off x="8826952" y="2957412"/>
            <a:ext cx="2979263" cy="864096"/>
            <a:chOff x="8116466" y="210141"/>
            <a:chExt cx="2979263" cy="864096"/>
          </a:xfrm>
        </p:grpSpPr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0B8FD8C1-AE7D-8F17-F0F0-2C95A3686B25}"/>
                </a:ext>
              </a:extLst>
            </p:cNvPr>
            <p:cNvSpPr/>
            <p:nvPr/>
          </p:nvSpPr>
          <p:spPr bwMode="auto">
            <a:xfrm>
              <a:off x="8116466" y="210141"/>
              <a:ext cx="2979263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Container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" name="Picture 8">
              <a:extLst>
                <a:ext uri="{FF2B5EF4-FFF2-40B4-BE49-F238E27FC236}">
                  <a16:creationId xmlns:a16="http://schemas.microsoft.com/office/drawing/2014/main" id="{C8232A05-C31D-7237-6F42-3BB74C962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0505" y="420708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752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22CBE-110D-BD50-7591-0F7B2C79B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23397"/>
            <a:ext cx="10515600" cy="82476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Редактирование задач с помощью 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9D445E-C537-D165-5ED1-0F3E02E3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85873C4-6DFF-A548-9B8B-1E285AEE2440}"/>
              </a:ext>
            </a:extLst>
          </p:cNvPr>
          <p:cNvSpPr/>
          <p:nvPr/>
        </p:nvSpPr>
        <p:spPr>
          <a:xfrm>
            <a:off x="2037614" y="1724294"/>
            <a:ext cx="2360356" cy="9291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Фронтенд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7D440298-05E8-89CF-B592-3A153260D101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4397970" y="2188868"/>
            <a:ext cx="2958892" cy="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00FE2-29C5-A284-DB95-B308D07F8300}"/>
              </a:ext>
            </a:extLst>
          </p:cNvPr>
          <p:cNvSpPr txBox="1"/>
          <p:nvPr/>
        </p:nvSpPr>
        <p:spPr>
          <a:xfrm>
            <a:off x="3344993" y="3313741"/>
            <a:ext cx="138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(1) экспорт и импорт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321EA22-B532-4183-BC9A-65B06B403906}"/>
              </a:ext>
            </a:extLst>
          </p:cNvPr>
          <p:cNvSpPr/>
          <p:nvPr/>
        </p:nvSpPr>
        <p:spPr>
          <a:xfrm>
            <a:off x="2037613" y="4652622"/>
            <a:ext cx="2360357" cy="9291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Директория на диске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07927BF-B546-4403-6542-533632BFD0EB}"/>
              </a:ext>
            </a:extLst>
          </p:cNvPr>
          <p:cNvSpPr/>
          <p:nvPr/>
        </p:nvSpPr>
        <p:spPr>
          <a:xfrm>
            <a:off x="7356862" y="1724298"/>
            <a:ext cx="2360357" cy="9291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MCP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1945D7B-DDEE-710F-063C-A5819DF8D98F}"/>
              </a:ext>
            </a:extLst>
          </p:cNvPr>
          <p:cNvSpPr/>
          <p:nvPr/>
        </p:nvSpPr>
        <p:spPr>
          <a:xfrm>
            <a:off x="7356862" y="4643427"/>
            <a:ext cx="2360357" cy="9291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Кодинговый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агент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949E8F4-610E-56F0-B281-E37A9C80C755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8537041" y="2653442"/>
            <a:ext cx="0" cy="19899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1F028C-1923-E044-F555-247A7A018130}"/>
              </a:ext>
            </a:extLst>
          </p:cNvPr>
          <p:cNvSpPr txBox="1"/>
          <p:nvPr/>
        </p:nvSpPr>
        <p:spPr>
          <a:xfrm>
            <a:off x="4995582" y="1401128"/>
            <a:ext cx="215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(3) вызов функций платформы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3B6B8-F092-1CF4-AA50-6BD59705F487}"/>
              </a:ext>
            </a:extLst>
          </p:cNvPr>
          <p:cNvSpPr txBox="1"/>
          <p:nvPr/>
        </p:nvSpPr>
        <p:spPr>
          <a:xfrm>
            <a:off x="8537041" y="3313740"/>
            <a:ext cx="188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(3) вызов функций платформы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4E4A8FA-6302-D6CB-70E9-4DD16ECCADA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217792" y="2653442"/>
            <a:ext cx="0" cy="199918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0A06469-64EC-1B12-33D5-EB02162129A1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397970" y="5107999"/>
            <a:ext cx="2958892" cy="919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4DE27D-97FA-6761-7E86-16992A95D54B}"/>
              </a:ext>
            </a:extLst>
          </p:cNvPr>
          <p:cNvSpPr txBox="1"/>
          <p:nvPr/>
        </p:nvSpPr>
        <p:spPr>
          <a:xfrm>
            <a:off x="4669813" y="4643427"/>
            <a:ext cx="268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(2) работа с файлами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313592F-FEEB-6224-9D66-6C48E458FF29}"/>
              </a:ext>
            </a:extLst>
          </p:cNvPr>
          <p:cNvSpPr/>
          <p:nvPr/>
        </p:nvSpPr>
        <p:spPr>
          <a:xfrm>
            <a:off x="2037614" y="5674566"/>
            <a:ext cx="2360356" cy="4507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Skill</a:t>
            </a:r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40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79326C-3481-5706-AE28-0E4BE59C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0"/>
            <a:ext cx="10515600" cy="715886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Наблюдаемость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56AE19-EB38-FDCC-13C8-3B00D4C9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2EA3AC-B6E6-7940-1EF5-AB214CF03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1120256"/>
            <a:ext cx="5608320" cy="3817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BCC0A1-BDC5-C5A1-2216-6DAEE7DFEB60}"/>
              </a:ext>
            </a:extLst>
          </p:cNvPr>
          <p:cNvSpPr txBox="1"/>
          <p:nvPr/>
        </p:nvSpPr>
        <p:spPr>
          <a:xfrm>
            <a:off x="106680" y="597036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Метрики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F6349F56-0FE5-1F96-46CE-ACA84AD80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239" y="1021618"/>
            <a:ext cx="5171778" cy="5775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8B2E3F-7374-9B8A-2373-22739A3DA0EA}"/>
              </a:ext>
            </a:extLst>
          </p:cNvPr>
          <p:cNvSpPr txBox="1"/>
          <p:nvPr/>
        </p:nvSpPr>
        <p:spPr>
          <a:xfrm>
            <a:off x="6956276" y="498399"/>
            <a:ext cx="404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Трассировка запросов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2FA9B-E735-E5BB-CDF1-9AD28223ECAB}"/>
              </a:ext>
            </a:extLst>
          </p:cNvPr>
          <p:cNvSpPr txBox="1"/>
          <p:nvPr/>
        </p:nvSpPr>
        <p:spPr>
          <a:xfrm>
            <a:off x="160020" y="4937348"/>
            <a:ext cx="539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сбор логов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9E7993-BD83-D5A0-6C0A-F3AA0B60F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" y="5544388"/>
            <a:ext cx="6591300" cy="108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09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7B8B5-76BA-5FAA-63E7-1E24914D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задачи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E5601F-20A9-14D1-F417-1E57AE01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8BF2F0-4A3F-48A1-A1AF-410E4686A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814457"/>
            <a:ext cx="7995839" cy="591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7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B941-81F9-9A2F-702C-4AEAB0CF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11310-D641-DA85-C5C8-BA895E48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Генерация задачи с помощью 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749F42-A829-99E6-E9B9-C0504BF9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4A6C54-BE76-050A-B069-3BCF914F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449" y="742605"/>
            <a:ext cx="7125102" cy="61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9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FE4A-5399-1A9B-9C54-82BFED11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5230A-42CF-F450-F470-A74B9BAE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88C3C1-B90E-AA23-2509-2815570B3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303" y="666289"/>
            <a:ext cx="9329177" cy="61917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008AB-2017-EBB6-62D7-12AEC4D2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Генерация задачи с помощью ИИ</a:t>
            </a:r>
          </a:p>
        </p:txBody>
      </p:sp>
    </p:spTree>
    <p:extLst>
      <p:ext uri="{BB962C8B-B14F-4D97-AF65-F5344CB8AC3E}">
        <p14:creationId xmlns:p14="http://schemas.microsoft.com/office/powerpoint/2010/main" val="87557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CDF4-7187-AD55-511E-0C6CDCC6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DAA64D-F570-6DE5-E088-88BFCCC1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10481-1C20-4D56-6417-620DD37F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Решение задачи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20C14E-1E5C-900F-C53D-AF3571CCC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76" y="734019"/>
            <a:ext cx="9858248" cy="612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71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30D8-258B-4FB8-E010-79632B96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50A733-C38D-4C8C-3ED1-0131AAD1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A9E54-C795-7DCD-F845-B13DA323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проверки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63EF26-2882-ADB6-0EE2-8C94C53E2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1" y="850189"/>
            <a:ext cx="9639590" cy="575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4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6AA16-4A74-BB5A-4D6F-04393894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3" y="115094"/>
            <a:ext cx="10515600" cy="727797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733A0B-D268-5CBA-C19E-81538A00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781"/>
            <a:ext cx="10515600" cy="425118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Разработана онлайн-платформа с алгоритмическими задачами по программированию «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SupremeCode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переработана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Хранение задач и решений реализовано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Проверка решений и поддержка языков расширены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Добавлены репликация и наблюдаемость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Работа платформы продемонстрирована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A03220-3629-DE06-D347-CB459980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11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C1D5BFE-109A-BC5D-745D-A8C87BC5E0AF}"/>
              </a:ext>
            </a:extLst>
          </p:cNvPr>
          <p:cNvSpPr txBox="1">
            <a:spLocks/>
          </p:cNvSpPr>
          <p:nvPr/>
        </p:nvSpPr>
        <p:spPr bwMode="auto">
          <a:xfrm>
            <a:off x="2131141" y="3642851"/>
            <a:ext cx="5715307" cy="921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835AC8D-060D-0B43-978F-800FB5FC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600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85EEE1-CB22-A3BA-45A7-DCE37248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4AECF72-1401-8995-664A-63480DCDA06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6981" y="0"/>
            <a:ext cx="10515600" cy="77628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Сравнение с существующими аналогами</a:t>
            </a:r>
          </a:p>
        </p:txBody>
      </p:sp>
      <p:graphicFrame>
        <p:nvGraphicFramePr>
          <p:cNvPr id="6" name="Таблица 4">
            <a:extLst>
              <a:ext uri="{FF2B5EF4-FFF2-40B4-BE49-F238E27FC236}">
                <a16:creationId xmlns:a16="http://schemas.microsoft.com/office/drawing/2014/main" id="{497F817B-15D4-7995-CE1B-3C12405378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228496"/>
              </p:ext>
            </p:extLst>
          </p:nvPr>
        </p:nvGraphicFramePr>
        <p:xfrm>
          <a:off x="176981" y="688085"/>
          <a:ext cx="11894574" cy="56937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80271">
                  <a:extLst>
                    <a:ext uri="{9D8B030D-6E8A-4147-A177-3AD203B41FA5}">
                      <a16:colId xmlns:a16="http://schemas.microsoft.com/office/drawing/2014/main" val="3006519065"/>
                    </a:ext>
                  </a:extLst>
                </a:gridCol>
                <a:gridCol w="1570703">
                  <a:extLst>
                    <a:ext uri="{9D8B030D-6E8A-4147-A177-3AD203B41FA5}">
                      <a16:colId xmlns:a16="http://schemas.microsoft.com/office/drawing/2014/main" val="1568791359"/>
                    </a:ext>
                  </a:extLst>
                </a:gridCol>
                <a:gridCol w="1629697">
                  <a:extLst>
                    <a:ext uri="{9D8B030D-6E8A-4147-A177-3AD203B41FA5}">
                      <a16:colId xmlns:a16="http://schemas.microsoft.com/office/drawing/2014/main" val="272458023"/>
                    </a:ext>
                  </a:extLst>
                </a:gridCol>
                <a:gridCol w="2013154">
                  <a:extLst>
                    <a:ext uri="{9D8B030D-6E8A-4147-A177-3AD203B41FA5}">
                      <a16:colId xmlns:a16="http://schemas.microsoft.com/office/drawing/2014/main" val="784296504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1197665714"/>
                    </a:ext>
                  </a:extLst>
                </a:gridCol>
              </a:tblGrid>
              <a:tr h="433639">
                <a:tc rowSpan="2"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Критерии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ПО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45329"/>
                  </a:ext>
                </a:extLst>
              </a:tr>
              <a:tr h="433639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LeetCode</a:t>
                      </a:r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CodeWars</a:t>
                      </a:r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</a:t>
                      </a:r>
                      <a:r>
                        <a:rPr lang="ru-R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Информатикс</a:t>
                      </a:r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</a:t>
                      </a: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SupremeCode</a:t>
                      </a:r>
                      <a:r>
                        <a:rPr lang="ru-RU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775306"/>
                  </a:ext>
                </a:extLst>
              </a:tr>
              <a:tr h="590629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Автоматизированная проверка решений задач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897649"/>
                  </a:ext>
                </a:extLst>
              </a:tr>
              <a:tr h="442552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Запуск кода вне решения 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27320"/>
                  </a:ext>
                </a:extLst>
              </a:tr>
              <a:tr h="405581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Добавление задач сообществом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522761"/>
                  </a:ext>
                </a:extLst>
              </a:tr>
              <a:tr h="433639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Наличие русского языка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121211"/>
                  </a:ext>
                </a:extLst>
              </a:tr>
              <a:tr h="407019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Редактор кода с автодополнением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561989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Совместное редактирования кода решения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49824"/>
                  </a:ext>
                </a:extLst>
              </a:tr>
              <a:tr h="464082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Наличие теоретических материалов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885285"/>
                  </a:ext>
                </a:extLst>
              </a:tr>
              <a:tr h="767207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Редактирование задач с помощью искусственного интеллекта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549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316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1680</Words>
  <Application>Microsoft Office PowerPoint</Application>
  <PresentationFormat>Широкоэкранный</PresentationFormat>
  <Paragraphs>274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Актуальность выбранной темы</vt:lpstr>
      <vt:lpstr>Презентация PowerPoint</vt:lpstr>
      <vt:lpstr>Задачи в магистратуре</vt:lpstr>
      <vt:lpstr>Пользовательские сценарии</vt:lpstr>
      <vt:lpstr>Хранение данных</vt:lpstr>
      <vt:lpstr>Общая архитектура системы</vt:lpstr>
      <vt:lpstr>Проверка решений</vt:lpstr>
      <vt:lpstr>Единый формат результата проверки</vt:lpstr>
      <vt:lpstr>Конфигурация языков</vt:lpstr>
      <vt:lpstr>Языковые сервера для редактора кода</vt:lpstr>
      <vt:lpstr>Редактирование задач с помощью ИИ</vt:lpstr>
      <vt:lpstr>Наблюдаемость</vt:lpstr>
      <vt:lpstr>Добавление задачи</vt:lpstr>
      <vt:lpstr>Генерация задачи с помощью ИИ</vt:lpstr>
      <vt:lpstr>Генерация задачи с помощью ИИ</vt:lpstr>
      <vt:lpstr>Решение задачи</vt:lpstr>
      <vt:lpstr>Результаты проверки решения</vt:lpstr>
      <vt:lpstr>Заключение</vt:lpstr>
      <vt:lpstr>Презентация PowerPoint</vt:lpstr>
      <vt:lpstr>Сравнение с существующими аналогами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Fine Danil</dc:creator>
  <cp:lastModifiedBy>Fine Danil</cp:lastModifiedBy>
  <cp:revision>129</cp:revision>
  <dcterms:created xsi:type="dcterms:W3CDTF">2026-06-10T23:34:49Z</dcterms:created>
  <dcterms:modified xsi:type="dcterms:W3CDTF">2026-06-11T16:48:57Z</dcterms:modified>
</cp:coreProperties>
</file>